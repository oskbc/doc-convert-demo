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76" r:id="rId3"/>
    <p:sldId id="278" r:id="rId4"/>
    <p:sldId id="27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95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75"/>
    <p:restoredTop sz="96489"/>
  </p:normalViewPr>
  <p:slideViewPr>
    <p:cSldViewPr snapToGrid="0" snapToObjects="1">
      <p:cViewPr varScale="1">
        <p:scale>
          <a:sx n="128" d="100"/>
          <a:sy n="128" d="100"/>
        </p:scale>
        <p:origin x="2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F8645D-7094-454A-9272-DBF2E8D56680}" type="datetimeFigureOut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9ACA35-4236-754B-83C3-BD6D1D3ABF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1127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41784B-4C97-A842-A51F-E9FC1FC001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58886"/>
            <a:ext cx="10515598" cy="742857"/>
          </a:xfrm>
        </p:spPr>
        <p:txBody>
          <a:bodyPr anchor="ctr">
            <a:normAutofit/>
          </a:bodyPr>
          <a:lstStyle>
            <a:lvl1pPr algn="ctr">
              <a:defRPr sz="4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3B15453-7AA7-5F45-B574-393DFC7D29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A1454B-EB1E-9D45-9C70-2971D0A16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8EDEB-BADD-A949-A37D-344F76CBFC94}" type="datetime1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F008BB-8554-FD4C-8E8E-A632CAB57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" altLang="ja-JP"/>
              <a:t>ETCO LLC.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8F4D7D2-2426-464B-8D7B-87C4EBB67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52E6-07CA-9B46-B866-FDE18BF74505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83A8AF0-EEB5-6C4E-9263-64DC090B51F5}"/>
              </a:ext>
            </a:extLst>
          </p:cNvPr>
          <p:cNvSpPr/>
          <p:nvPr userDrawn="1"/>
        </p:nvSpPr>
        <p:spPr>
          <a:xfrm>
            <a:off x="838200" y="2801743"/>
            <a:ext cx="10515599" cy="7066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0112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D013073-5F8E-204D-96F7-C4CC28FAAFFE}"/>
              </a:ext>
            </a:extLst>
          </p:cNvPr>
          <p:cNvSpPr/>
          <p:nvPr userDrawn="1"/>
        </p:nvSpPr>
        <p:spPr>
          <a:xfrm>
            <a:off x="11251096" y="6341111"/>
            <a:ext cx="543339" cy="51688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AB3C7C5-E79F-0B47-B08A-7D62EFE45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565" y="196162"/>
            <a:ext cx="11396870" cy="504451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40AC78C-3506-E648-9747-5B4816F31F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565" y="805967"/>
            <a:ext cx="11396870" cy="5535144"/>
          </a:xfrm>
        </p:spPr>
        <p:txBody>
          <a:bodyPr/>
          <a:lstStyle>
            <a:lvl6pPr>
              <a:defRPr sz="1600">
                <a:latin typeface="Meiryo UI" panose="020B0604030504040204" pitchFamily="34" charset="-128"/>
                <a:ea typeface="Meiryo UI" panose="020B0604030504040204" pitchFamily="34" charset="-128"/>
              </a:defRPr>
            </a:lvl6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  <a:endParaRPr kumimoji="1" lang="en-US" altLang="ja-JP" dirty="0"/>
          </a:p>
          <a:p>
            <a:pPr lvl="5"/>
            <a:r>
              <a:rPr kumimoji="1" lang="ja-JP" altLang="en-US"/>
              <a:t>第６レベル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3ADF0C-14D2-6E4C-B739-5125B307E2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97565" y="6386830"/>
            <a:ext cx="2743200" cy="365125"/>
          </a:xfrm>
        </p:spPr>
        <p:txBody>
          <a:bodyPr/>
          <a:lstStyle/>
          <a:p>
            <a:fld id="{952987D4-63BE-1D49-9FA4-4DF8DCD0E85B}" type="datetime1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A69470A-1FD3-D947-9EA7-396A4272C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86830"/>
            <a:ext cx="4114800" cy="365125"/>
          </a:xfrm>
        </p:spPr>
        <p:txBody>
          <a:bodyPr/>
          <a:lstStyle/>
          <a:p>
            <a:r>
              <a:rPr kumimoji="1" lang="en-US" altLang="ja-JP" dirty="0"/>
              <a:t>ETCO LLC.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9ABDFF7-C130-2548-ABCB-FFFDE44B91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1095" y="6386830"/>
            <a:ext cx="543339" cy="365125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62052E6-07CA-9B46-B866-FDE18BF74505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8115502-DA04-EF4E-9533-E4783D4FEFBF}"/>
              </a:ext>
            </a:extLst>
          </p:cNvPr>
          <p:cNvSpPr/>
          <p:nvPr userDrawn="1"/>
        </p:nvSpPr>
        <p:spPr>
          <a:xfrm>
            <a:off x="397565" y="730430"/>
            <a:ext cx="8791259" cy="4571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C247F8A-64A6-7D4B-8FB2-0950C7E15D07}"/>
              </a:ext>
            </a:extLst>
          </p:cNvPr>
          <p:cNvSpPr/>
          <p:nvPr userDrawn="1"/>
        </p:nvSpPr>
        <p:spPr>
          <a:xfrm>
            <a:off x="9188824" y="730430"/>
            <a:ext cx="2605611" cy="4571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5567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19087-08F3-C447-AF65-1A7E05C4D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A87E87D-56A3-5D4F-B594-9B44380F7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BB792-812D-EA44-9493-60708746D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544A8E-76F0-BD45-8F86-1DA220873064}" type="datetime1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E6F7FF-4793-5848-9A91-130704385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" altLang="ja-JP"/>
              <a:t>ETCO LLC.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2FE743-148A-224C-A2C7-0C9DD5153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52E6-07CA-9B46-B866-FDE18BF745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604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C65667-C887-B240-B575-6971DE7DB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6D6C50-7432-E745-9CBA-2B16315D84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DA81660-9CBB-7C45-A9D0-2BAD015773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0D922FD-1E82-274B-9770-F2F791F09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DBC7F-D19A-0343-968E-7A0CB7326BD0}" type="datetime1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98DE4C-E2C7-2E4E-879E-53FEC10E0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" altLang="ja-JP"/>
              <a:t>ETCO LLC.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FE505ED-F819-AE49-AD59-A41CBBF4E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52E6-07CA-9B46-B866-FDE18BF745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983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0C66-7488-B84E-94E2-292E150FE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29997CB-62D1-184D-B2A8-B22C75DAB9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9935119-6F35-0640-B700-1F021EF409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13400A3-25D2-524A-8F89-F2F536E39A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A06E982-011E-6B44-BF07-1EB62A2EBB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EAAE6FA-8763-7547-B17B-37F7660B2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E50F6-BF54-3B43-9E7F-30C13CAE09A7}" type="datetime1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DED77A2-42F9-3B4E-9257-74AA9E6A8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" altLang="ja-JP"/>
              <a:t>ETCO LLC.</a:t>
            </a:r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88A29A9-8A2A-A14B-B5D5-FC1C4B4EA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52E6-07CA-9B46-B866-FDE18BF745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765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2ECC5F-C96A-BE4C-8B42-13ECD65E9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0ECC02A-68D5-5D4A-9344-6688F38F0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66D2AC-C96B-C441-A7EE-EFB2ABD252C0}" type="datetime1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7F7F00A-CFCB-304E-A691-44227BF10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" altLang="ja-JP"/>
              <a:t>ETCO LLC.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24064E1-CAB3-B442-A9FD-64C972B34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52E6-07CA-9B46-B866-FDE18BF745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6005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6EFA031-9A6A-7C47-89B9-30C071247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3AB25-9BC2-5A46-A04D-5327E4F35EB2}" type="datetime1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AF362C-477C-2D47-B721-62A372494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" altLang="ja-JP"/>
              <a:t>ETCO LLC.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4FD4AA-B12A-5344-B12C-93482E29E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52E6-07CA-9B46-B866-FDE18BF745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3970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98EB18-F44C-5B47-BA81-5869FB328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76CB805-EE3A-9941-9B12-95CCFD562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6B04B39-E005-1B44-90D2-C8B523707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2BAB93-9DB0-544D-917A-0263F093A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4B335-064C-984F-9B19-9EDC8B133EDF}" type="datetime1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A7E16A-ADBE-DF4B-8757-481FB11F8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" altLang="ja-JP"/>
              <a:t>ETCO LLC.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EBC8098-6B75-C149-B698-69687C035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52E6-07CA-9B46-B866-FDE18BF745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92580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4BF09B-6036-574D-BBB2-3DA730C00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066FB75-A475-0F48-9537-782EFFA56E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C566E14-4C3A-2149-90F6-0972351600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BE010DD-1114-9D41-8D65-EE0102496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4BFCF7-E666-6144-BAA7-34E70595AF75}" type="datetime1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6DC0700-471A-4849-B5B4-22D6B36AE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" altLang="ja-JP"/>
              <a:t>ETCO LLC.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65320C6-F1F1-D44B-857C-744C071C4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52E6-07CA-9B46-B866-FDE18BF745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4866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ED6B60-CAA6-0441-AA00-C83FCB722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EEDCDB4-EA27-B649-814F-729E086D7E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24CCE19-FFFA-C742-83EC-FD6C94D80C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53D067-023C-7441-9D68-F6D230C546B7}" type="datetime1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470F16-91CC-9F43-A813-F44F22B1D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" altLang="ja-JP"/>
              <a:t>ETCO LLC.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C244F3-F0F9-CE49-A15C-3F6C9984F6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52E6-07CA-9B46-B866-FDE18BF745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3390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90425CA-DF6C-D049-B0F7-38A0F0B4C2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7A9F20D-5F3B-B944-97E2-CA110EBB79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6151E1-0B93-B04F-A400-0FC7CC807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4B4445-EA75-9B46-9B2E-BE02F9884A6B}" type="datetime1">
              <a:rPr kumimoji="1" lang="ja-JP" altLang="en-US" smtClean="0"/>
              <a:t>2025/11/12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7C1B08-8F72-B14B-A771-8F8163197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" altLang="ja-JP"/>
              <a:t>ETCO LLC.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321529-C59F-694B-9D57-F8261B227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52E6-07CA-9B46-B866-FDE18BF745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013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384990A-6A82-7D4A-8249-EE4F99502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78DA022-1E64-0644-8828-CEA2F88734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640296C-8207-2143-9130-743BF6F06C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1EC3668C-4672-9D42-BA67-D988628B8251}" type="datetime1">
              <a:rPr lang="ja-JP" altLang="en-US" smtClean="0"/>
              <a:pPr/>
              <a:t>2025/11/12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257BC24-807F-7445-A274-97D5C63BD7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lang="en" altLang="ja-JP"/>
              <a:t>ETCO LLC.</a:t>
            </a:r>
            <a:endParaRPr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8B9EAC-1314-584C-89D0-2F28120927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fld id="{462052E6-07CA-9B46-B866-FDE18BF74505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30206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Meiryo UI" panose="020B0604030504040204" pitchFamily="34" charset="-128"/>
          <a:ea typeface="Meiryo UI" panose="020B0604030504040204" pitchFamily="34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AED40B-1B23-6948-89B3-220CD171B0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408386"/>
            <a:ext cx="10515598" cy="1393357"/>
          </a:xfrm>
        </p:spPr>
        <p:txBody>
          <a:bodyPr>
            <a:normAutofit/>
          </a:bodyPr>
          <a:lstStyle/>
          <a:p>
            <a:r>
              <a:rPr lang="en-US" altLang="ja-JP" sz="3600" dirty="0"/>
              <a:t>AI</a:t>
            </a:r>
            <a:r>
              <a:rPr lang="ja-JP" altLang="en-US" sz="3600"/>
              <a:t>による</a:t>
            </a:r>
            <a:r>
              <a:rPr lang="en-US" altLang="ja-JP" sz="3600" dirty="0"/>
              <a:t>PM</a:t>
            </a:r>
            <a:r>
              <a:rPr lang="ja-JP" altLang="en-US" sz="3600"/>
              <a:t>・開発業務支援</a:t>
            </a:r>
            <a:r>
              <a:rPr lang="en-US" altLang="ja-JP" sz="3600" dirty="0"/>
              <a:t>PoC</a:t>
            </a:r>
            <a:r>
              <a:rPr lang="ja-JP" altLang="en-US" sz="3600"/>
              <a:t>実施</a:t>
            </a:r>
            <a:br>
              <a:rPr lang="en-US" altLang="ja-JP" sz="3600" dirty="0"/>
            </a:br>
            <a:r>
              <a:rPr lang="ja-JP" altLang="en-US" sz="3600"/>
              <a:t>（</a:t>
            </a:r>
            <a:r>
              <a:rPr lang="en-US" altLang="zh-CN" sz="3600" dirty="0"/>
              <a:t>1</a:t>
            </a:r>
            <a:r>
              <a:rPr lang="zh-CN" altLang="en-US" sz="3600" dirty="0"/>
              <a:t>次ゴール</a:t>
            </a:r>
            <a:r>
              <a:rPr lang="ja-JP" altLang="en-US" sz="3600"/>
              <a:t>）</a:t>
            </a:r>
            <a:endParaRPr kumimoji="1" lang="ja-JP" altLang="en-US" sz="360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AE313A0-35E2-4F4C-BEDF-EC60074526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2025</a:t>
            </a:r>
            <a:r>
              <a:rPr kumimoji="1" lang="ja-JP" altLang="en-US"/>
              <a:t>年</a:t>
            </a:r>
            <a:r>
              <a:rPr kumimoji="1" lang="en-US" altLang="ja-JP" dirty="0"/>
              <a:t>7</a:t>
            </a:r>
            <a:r>
              <a:rPr kumimoji="1" lang="ja-JP" altLang="en-US"/>
              <a:t>月</a:t>
            </a:r>
            <a:r>
              <a:rPr lang="en-US" altLang="ja-JP" dirty="0"/>
              <a:t>7</a:t>
            </a:r>
            <a:r>
              <a:rPr kumimoji="1" lang="ja-JP" altLang="en-US"/>
              <a:t>日版</a:t>
            </a:r>
            <a:endParaRPr kumimoji="1" lang="en-US" altLang="ja-JP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C320734-38FF-144E-9A60-72316A413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" altLang="ja-JP"/>
              <a:t>ETCO LLC.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B3D9C38-E1BA-D14B-B9C5-31A6CE1F9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52E6-07CA-9B46-B866-FDE18BF74505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7803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AC77D-3086-5F76-740D-DACC16449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6BD1BC-10F5-7815-6298-A34ED675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/>
              <a:t>プロジェクト</a:t>
            </a:r>
            <a:r>
              <a:rPr lang="zh-CN" altLang="en-US" dirty="0"/>
              <a:t>概要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8296852-B22A-DA47-3EEE-8FF1E16A1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ja-JP" altLang="en-US" sz="2000"/>
              <a:t>プロジェクトの背景</a:t>
            </a:r>
            <a:endParaRPr lang="en-US" altLang="ja-JP" sz="2000" dirty="0"/>
          </a:p>
          <a:p>
            <a:pPr lvl="1">
              <a:lnSpc>
                <a:spcPct val="100000"/>
              </a:lnSpc>
            </a:pPr>
            <a:r>
              <a:rPr lang="ja-JP" altLang="en-US" sz="1600"/>
              <a:t>玉木事務所、</a:t>
            </a:r>
            <a:r>
              <a:rPr lang="zh-CN" altLang="en-US" sz="1600" dirty="0"/>
              <a:t>および</a:t>
            </a:r>
            <a:r>
              <a:rPr lang="ja-JP" altLang="en-US" sz="1600"/>
              <a:t> </a:t>
            </a:r>
            <a:r>
              <a:rPr lang="es-419" altLang="ja-JP" sz="1600" dirty="0"/>
              <a:t>bluecode </a:t>
            </a:r>
            <a:r>
              <a:rPr lang="ja-JP" altLang="en-US" sz="1600"/>
              <a:t>は、</a:t>
            </a:r>
            <a:r>
              <a:rPr lang="es-419" altLang="ja-JP" sz="1600" dirty="0">
                <a:solidFill>
                  <a:srgbClr val="FF0000"/>
                </a:solidFill>
              </a:rPr>
              <a:t>AI</a:t>
            </a:r>
            <a:r>
              <a:rPr lang="ja-JP" altLang="en-US" sz="1600">
                <a:solidFill>
                  <a:srgbClr val="FF0000"/>
                </a:solidFill>
              </a:rPr>
              <a:t>を活用</a:t>
            </a:r>
            <a:r>
              <a:rPr lang="ja-JP" altLang="en-US" sz="1600"/>
              <a:t>して</a:t>
            </a:r>
            <a:r>
              <a:rPr lang="ja-JP" altLang="en-US" sz="1600">
                <a:solidFill>
                  <a:srgbClr val="FF0000"/>
                </a:solidFill>
              </a:rPr>
              <a:t>業務効率を高め</a:t>
            </a:r>
            <a:r>
              <a:rPr lang="ja-JP" altLang="en-US" sz="1600"/>
              <a:t>、</a:t>
            </a:r>
            <a:r>
              <a:rPr lang="ja-JP" altLang="en-US" sz="1600">
                <a:solidFill>
                  <a:srgbClr val="FF0000"/>
                </a:solidFill>
              </a:rPr>
              <a:t>他社との差別化</a:t>
            </a:r>
            <a:r>
              <a:rPr lang="ja-JP" altLang="en-US" sz="1600"/>
              <a:t>を図ることを目指している。</a:t>
            </a:r>
          </a:p>
          <a:p>
            <a:pPr lvl="1">
              <a:lnSpc>
                <a:spcPct val="100000"/>
              </a:lnSpc>
            </a:pPr>
            <a:r>
              <a:rPr lang="zh-CN" altLang="en-US" sz="1600" dirty="0"/>
              <a:t>現在</a:t>
            </a:r>
            <a:r>
              <a:rPr lang="ja-JP" altLang="en-US" sz="1600"/>
              <a:t>の</a:t>
            </a:r>
            <a:r>
              <a:rPr lang="es-419" altLang="zh-CN" sz="1600" dirty="0"/>
              <a:t>AI</a:t>
            </a:r>
            <a:r>
              <a:rPr lang="zh-CN" altLang="en-US" sz="1600" dirty="0"/>
              <a:t>活用</a:t>
            </a:r>
            <a:r>
              <a:rPr lang="ja-JP" altLang="en-US" sz="1600"/>
              <a:t>は</a:t>
            </a:r>
            <a:r>
              <a:rPr lang="zh-CN" altLang="en-US" sz="1600" dirty="0"/>
              <a:t>仕様</a:t>
            </a:r>
            <a:r>
              <a:rPr lang="ja-JP" altLang="en-US" sz="1600"/>
              <a:t>の</a:t>
            </a:r>
            <a:r>
              <a:rPr lang="zh-CN" altLang="en-US" sz="1600" dirty="0"/>
              <a:t>自由度</a:t>
            </a:r>
            <a:r>
              <a:rPr lang="ja-JP" altLang="en-US" sz="1600"/>
              <a:t>が</a:t>
            </a:r>
            <a:r>
              <a:rPr lang="zh-CN" altLang="en-US" sz="1600" dirty="0"/>
              <a:t>高</a:t>
            </a:r>
            <a:r>
              <a:rPr lang="ja-JP" altLang="en-US" sz="1600"/>
              <a:t>い</a:t>
            </a:r>
            <a:r>
              <a:rPr lang="zh-CN" altLang="en-US" sz="1600" dirty="0"/>
              <a:t>分野</a:t>
            </a:r>
            <a:r>
              <a:rPr lang="ja-JP" altLang="en-US" sz="1600"/>
              <a:t>に</a:t>
            </a:r>
            <a:r>
              <a:rPr lang="zh-CN" altLang="en-US" sz="1600" dirty="0"/>
              <a:t>偏</a:t>
            </a:r>
            <a:r>
              <a:rPr lang="ja-JP" altLang="en-US" sz="1600"/>
              <a:t>り、より</a:t>
            </a:r>
            <a:r>
              <a:rPr lang="zh-CN" altLang="en-US" sz="1600" dirty="0"/>
              <a:t>構造化</a:t>
            </a:r>
            <a:r>
              <a:rPr lang="ja-JP" altLang="en-US" sz="1600"/>
              <a:t>された</a:t>
            </a:r>
            <a:r>
              <a:rPr lang="zh-CN" altLang="en-US" sz="1600" dirty="0"/>
              <a:t>業務領域</a:t>
            </a:r>
            <a:r>
              <a:rPr lang="ja-JP" altLang="en-US" sz="1600"/>
              <a:t>への</a:t>
            </a:r>
            <a:r>
              <a:rPr lang="zh-CN" altLang="en-US" sz="1600" dirty="0"/>
              <a:t>実践的適用</a:t>
            </a:r>
            <a:r>
              <a:rPr lang="ja-JP" altLang="en-US" sz="1600"/>
              <a:t>が</a:t>
            </a:r>
            <a:r>
              <a:rPr lang="zh-CN" altLang="en-US" sz="1600" dirty="0"/>
              <a:t>課題</a:t>
            </a:r>
            <a:r>
              <a:rPr lang="ja-JP" altLang="en-US" sz="1600"/>
              <a:t>となっている。</a:t>
            </a:r>
          </a:p>
          <a:p>
            <a:pPr lvl="1">
              <a:lnSpc>
                <a:spcPct val="100000"/>
              </a:lnSpc>
            </a:pPr>
            <a:r>
              <a:rPr lang="zh-CN" altLang="en-US" sz="1600" dirty="0"/>
              <a:t>本</a:t>
            </a:r>
            <a:r>
              <a:rPr lang="es-419" altLang="zh-CN" sz="1600" dirty="0"/>
              <a:t>PoC</a:t>
            </a:r>
            <a:r>
              <a:rPr lang="ja-JP" altLang="en-US" sz="1600"/>
              <a:t>では、</a:t>
            </a:r>
            <a:r>
              <a:rPr lang="es-419" altLang="zh-CN" sz="1600" dirty="0">
                <a:solidFill>
                  <a:srgbClr val="FF0000"/>
                </a:solidFill>
              </a:rPr>
              <a:t>PM</a:t>
            </a:r>
            <a:r>
              <a:rPr lang="zh-CN" altLang="es-419" sz="1600" dirty="0">
                <a:solidFill>
                  <a:srgbClr val="FF0000"/>
                </a:solidFill>
              </a:rPr>
              <a:t>・</a:t>
            </a:r>
            <a:r>
              <a:rPr lang="zh-CN" altLang="en-US" sz="1600" dirty="0">
                <a:solidFill>
                  <a:srgbClr val="FF0000"/>
                </a:solidFill>
              </a:rPr>
              <a:t>開発業務支援</a:t>
            </a:r>
            <a:r>
              <a:rPr lang="ja-JP" altLang="en-US" sz="1600"/>
              <a:t>の</a:t>
            </a:r>
            <a:r>
              <a:rPr lang="zh-CN" altLang="en-US" sz="1600" dirty="0"/>
              <a:t>観点</a:t>
            </a:r>
            <a:r>
              <a:rPr lang="ja-JP" altLang="en-US" sz="1600"/>
              <a:t>から「</a:t>
            </a:r>
            <a:r>
              <a:rPr lang="ja-JP" altLang="en-US" sz="1600">
                <a:solidFill>
                  <a:srgbClr val="FF0000"/>
                </a:solidFill>
              </a:rPr>
              <a:t>ドキュメント</a:t>
            </a:r>
            <a:r>
              <a:rPr lang="zh-CN" altLang="en-US" sz="1600" dirty="0">
                <a:solidFill>
                  <a:srgbClr val="FF0000"/>
                </a:solidFill>
              </a:rPr>
              <a:t>自動生成</a:t>
            </a:r>
            <a:r>
              <a:rPr lang="zh-CN" altLang="en-US" sz="1600" dirty="0"/>
              <a:t>」</a:t>
            </a:r>
            <a:r>
              <a:rPr lang="ja-JP" altLang="en-US" sz="1600"/>
              <a:t>に</a:t>
            </a:r>
            <a:r>
              <a:rPr lang="zh-CN" altLang="en-US" sz="1600" dirty="0"/>
              <a:t>焦点</a:t>
            </a:r>
            <a:r>
              <a:rPr lang="ja-JP" altLang="en-US" sz="1600"/>
              <a:t>を</a:t>
            </a:r>
            <a:r>
              <a:rPr lang="zh-CN" altLang="en-US" sz="1600" dirty="0"/>
              <a:t>当</a:t>
            </a:r>
            <a:r>
              <a:rPr lang="ja-JP" altLang="en-US" sz="1600"/>
              <a:t>て、</a:t>
            </a:r>
            <a:r>
              <a:rPr lang="es-419" altLang="zh-CN" sz="1600" dirty="0"/>
              <a:t>AI </a:t>
            </a:r>
            <a:r>
              <a:rPr lang="zh-CN" altLang="en-US" sz="1600" dirty="0"/>
              <a:t>活用</a:t>
            </a:r>
            <a:r>
              <a:rPr lang="ja-JP" altLang="en-US" sz="1600"/>
              <a:t>の</a:t>
            </a:r>
            <a:r>
              <a:rPr lang="zh-CN" altLang="en-US" sz="1600" dirty="0">
                <a:solidFill>
                  <a:srgbClr val="FF0000"/>
                </a:solidFill>
              </a:rPr>
              <a:t>有効性</a:t>
            </a:r>
            <a:r>
              <a:rPr lang="ja-JP" altLang="en-US" sz="1600"/>
              <a:t>と</a:t>
            </a:r>
            <a:r>
              <a:rPr lang="zh-CN" altLang="en-US" sz="1600" dirty="0">
                <a:solidFill>
                  <a:srgbClr val="FF0000"/>
                </a:solidFill>
              </a:rPr>
              <a:t>省力化</a:t>
            </a:r>
            <a:r>
              <a:rPr lang="ja-JP" altLang="en-US" sz="1600"/>
              <a:t>の</a:t>
            </a:r>
            <a:r>
              <a:rPr lang="zh-CN" altLang="en-US" sz="1600" dirty="0"/>
              <a:t>可能性</a:t>
            </a:r>
            <a:r>
              <a:rPr lang="ja-JP" altLang="en-US" sz="1600"/>
              <a:t>を</a:t>
            </a:r>
            <a:r>
              <a:rPr lang="zh-CN" altLang="en-US" sz="1600" dirty="0"/>
              <a:t>実証的</a:t>
            </a:r>
            <a:r>
              <a:rPr lang="ja-JP" altLang="en-US" sz="1600"/>
              <a:t>に</a:t>
            </a:r>
            <a:r>
              <a:rPr lang="zh-CN" altLang="en-US" sz="1600" dirty="0"/>
              <a:t>検証</a:t>
            </a:r>
            <a:r>
              <a:rPr lang="ja-JP" altLang="en-US" sz="1600"/>
              <a:t>する。</a:t>
            </a:r>
            <a:endParaRPr lang="en-US" altLang="ja-JP" sz="1600" dirty="0"/>
          </a:p>
          <a:p>
            <a:pPr lvl="1">
              <a:lnSpc>
                <a:spcPct val="100000"/>
              </a:lnSpc>
            </a:pPr>
            <a:endParaRPr lang="ja-JP" altLang="en-US" sz="1400"/>
          </a:p>
          <a:p>
            <a:pPr>
              <a:lnSpc>
                <a:spcPct val="100000"/>
              </a:lnSpc>
            </a:pPr>
            <a:r>
              <a:rPr lang="zh-CN" altLang="en-US" sz="2000" dirty="0"/>
              <a:t>目的</a:t>
            </a:r>
            <a:r>
              <a:rPr lang="ja-JP" altLang="en-US" sz="2000"/>
              <a:t>とゴール</a:t>
            </a:r>
            <a:endParaRPr lang="en-US" altLang="ja-JP" sz="2000" dirty="0"/>
          </a:p>
          <a:p>
            <a:pPr lvl="1">
              <a:lnSpc>
                <a:spcPct val="100000"/>
              </a:lnSpc>
            </a:pPr>
            <a:r>
              <a:rPr lang="zh-CN" altLang="en-US" sz="1600" dirty="0"/>
              <a:t>本</a:t>
            </a:r>
            <a:r>
              <a:rPr lang="ja-JP" altLang="en-US" sz="1600"/>
              <a:t>プロジェクトの</a:t>
            </a:r>
            <a:r>
              <a:rPr lang="zh-CN" altLang="en-US" sz="1600" dirty="0"/>
              <a:t>直接目的</a:t>
            </a:r>
            <a:r>
              <a:rPr lang="ja-JP" altLang="en-US" sz="1600"/>
              <a:t>は、</a:t>
            </a:r>
            <a:r>
              <a:rPr lang="zh-CN" altLang="en-US" sz="1600" dirty="0"/>
              <a:t>以下</a:t>
            </a:r>
            <a:r>
              <a:rPr lang="ja-JP" altLang="en-US" sz="1600"/>
              <a:t>の</a:t>
            </a:r>
            <a:r>
              <a:rPr lang="en-US" altLang="ja-JP" sz="1600" b="1" dirty="0"/>
              <a:t>1</a:t>
            </a:r>
            <a:r>
              <a:rPr lang="zh-CN" altLang="en-US" sz="1600" b="1" dirty="0"/>
              <a:t>次</a:t>
            </a:r>
            <a:r>
              <a:rPr lang="ja-JP" altLang="en-US" sz="1600" b="1"/>
              <a:t>ゴール</a:t>
            </a:r>
            <a:r>
              <a:rPr lang="ja-JP" altLang="en-US" sz="1600"/>
              <a:t>を</a:t>
            </a:r>
            <a:r>
              <a:rPr lang="zh-CN" altLang="en-US" sz="1600" dirty="0"/>
              <a:t>達成</a:t>
            </a:r>
            <a:r>
              <a:rPr lang="ja-JP" altLang="en-US" sz="1600"/>
              <a:t>することにある。 </a:t>
            </a:r>
            <a:endParaRPr lang="en-US" altLang="ja-JP" sz="1600" dirty="0"/>
          </a:p>
          <a:p>
            <a:pPr lvl="1">
              <a:lnSpc>
                <a:spcPct val="100000"/>
              </a:lnSpc>
            </a:pPr>
            <a:r>
              <a:rPr lang="en-US" altLang="ja-JP" sz="1600" dirty="0"/>
              <a:t>1</a:t>
            </a:r>
            <a:r>
              <a:rPr lang="zh-CN" altLang="en-US" sz="1600" dirty="0"/>
              <a:t>次</a:t>
            </a:r>
            <a:r>
              <a:rPr lang="ja-JP" altLang="en-US" sz="1600"/>
              <a:t>ゴール：</a:t>
            </a:r>
            <a:r>
              <a:rPr lang="zh-CN" altLang="en-US" sz="1600" dirty="0"/>
              <a:t>開発</a:t>
            </a:r>
            <a:r>
              <a:rPr lang="ja-JP" altLang="en-US" sz="1600"/>
              <a:t>ドキュメントの</a:t>
            </a:r>
            <a:r>
              <a:rPr lang="zh-CN" altLang="en-US" sz="1600" dirty="0"/>
              <a:t>自動生成 </a:t>
            </a:r>
            <a:endParaRPr lang="en-US" altLang="zh-CN" sz="1600" dirty="0"/>
          </a:p>
          <a:p>
            <a:pPr lvl="2">
              <a:lnSpc>
                <a:spcPct val="100000"/>
              </a:lnSpc>
            </a:pPr>
            <a:r>
              <a:rPr lang="zh-CN" altLang="en-US" sz="1400" dirty="0"/>
              <a:t>開発</a:t>
            </a:r>
            <a:r>
              <a:rPr lang="ja-JP" altLang="en-US" sz="1400"/>
              <a:t>プロジェクトに</a:t>
            </a:r>
            <a:r>
              <a:rPr lang="zh-CN" altLang="en-US" sz="1400" dirty="0"/>
              <a:t>必要</a:t>
            </a:r>
            <a:r>
              <a:rPr lang="ja-JP" altLang="en-US" sz="1400"/>
              <a:t>な</a:t>
            </a:r>
            <a:r>
              <a:rPr lang="zh-CN" altLang="en-US" sz="1400" dirty="0">
                <a:solidFill>
                  <a:srgbClr val="FF0000"/>
                </a:solidFill>
              </a:rPr>
              <a:t>各種</a:t>
            </a:r>
            <a:r>
              <a:rPr lang="ja-JP" altLang="en-US" sz="1400">
                <a:solidFill>
                  <a:srgbClr val="FF0000"/>
                </a:solidFill>
              </a:rPr>
              <a:t>ドキュメント</a:t>
            </a:r>
            <a:r>
              <a:rPr lang="ja-JP" altLang="en-US" sz="1400"/>
              <a:t>を </a:t>
            </a:r>
            <a:r>
              <a:rPr lang="es-419" altLang="zh-CN" sz="1400" dirty="0"/>
              <a:t>AI </a:t>
            </a:r>
            <a:r>
              <a:rPr lang="ja-JP" altLang="en-US" sz="1400"/>
              <a:t>により</a:t>
            </a:r>
            <a:r>
              <a:rPr lang="zh-CN" altLang="en-US" sz="1400" dirty="0"/>
              <a:t>自動生成</a:t>
            </a:r>
            <a:r>
              <a:rPr lang="ja-JP" altLang="en-US" sz="1400"/>
              <a:t>する</a:t>
            </a:r>
            <a:r>
              <a:rPr lang="zh-CN" altLang="en-US" sz="1400" dirty="0"/>
              <a:t>技術</a:t>
            </a:r>
            <a:r>
              <a:rPr lang="ja-JP" altLang="en-US" sz="1400"/>
              <a:t>を</a:t>
            </a:r>
            <a:r>
              <a:rPr lang="zh-CN" altLang="en-US" sz="1400" dirty="0"/>
              <a:t>確立</a:t>
            </a:r>
            <a:r>
              <a:rPr lang="ja-JP" altLang="en-US" sz="1400"/>
              <a:t>し、</a:t>
            </a:r>
            <a:r>
              <a:rPr lang="zh-CN" altLang="en-US" sz="1400" dirty="0"/>
              <a:t>省力化</a:t>
            </a:r>
            <a:r>
              <a:rPr lang="ja-JP" altLang="en-US" sz="1400"/>
              <a:t>を</a:t>
            </a:r>
            <a:r>
              <a:rPr lang="zh-CN" altLang="en-US" sz="1400" dirty="0"/>
              <a:t>実現</a:t>
            </a:r>
            <a:r>
              <a:rPr lang="ja-JP" altLang="en-US" sz="1400"/>
              <a:t>する。 </a:t>
            </a:r>
            <a:endParaRPr lang="en-US" altLang="ja-JP" sz="1400" dirty="0"/>
          </a:p>
          <a:p>
            <a:pPr lvl="2">
              <a:lnSpc>
                <a:spcPct val="100000"/>
              </a:lnSpc>
            </a:pPr>
            <a:r>
              <a:rPr lang="ja-JP" altLang="en-US" sz="1400"/>
              <a:t>プロジェクト</a:t>
            </a:r>
            <a:r>
              <a:rPr lang="zh-CN" altLang="en-US" sz="1400" dirty="0"/>
              <a:t>規模（</a:t>
            </a:r>
            <a:r>
              <a:rPr lang="zh-CN" altLang="en-US" sz="1400" dirty="0">
                <a:solidFill>
                  <a:srgbClr val="FF0000"/>
                </a:solidFill>
              </a:rPr>
              <a:t>小規模</a:t>
            </a:r>
            <a:r>
              <a:rPr lang="zh-CN" altLang="en-US" sz="1400" dirty="0"/>
              <a:t>・</a:t>
            </a:r>
            <a:r>
              <a:rPr lang="zh-CN" altLang="en-US" sz="1400" dirty="0">
                <a:solidFill>
                  <a:srgbClr val="FF0000"/>
                </a:solidFill>
              </a:rPr>
              <a:t>中規模</a:t>
            </a:r>
            <a:r>
              <a:rPr lang="zh-CN" altLang="en-US" sz="1400" dirty="0"/>
              <a:t>・</a:t>
            </a:r>
            <a:r>
              <a:rPr lang="zh-CN" altLang="en-US" sz="1400" dirty="0">
                <a:solidFill>
                  <a:srgbClr val="FF0000"/>
                </a:solidFill>
              </a:rPr>
              <a:t>大規模</a:t>
            </a:r>
            <a:r>
              <a:rPr lang="zh-CN" altLang="en-US" sz="1400" dirty="0"/>
              <a:t>）</a:t>
            </a:r>
            <a:r>
              <a:rPr lang="ja-JP" altLang="en-US" sz="1400"/>
              <a:t>に</a:t>
            </a:r>
            <a:r>
              <a:rPr lang="zh-CN" altLang="en-US" sz="1400" dirty="0"/>
              <a:t>応</a:t>
            </a:r>
            <a:r>
              <a:rPr lang="ja-JP" altLang="en-US" sz="1400"/>
              <a:t>じたドキュメントを</a:t>
            </a:r>
            <a:r>
              <a:rPr lang="zh-CN" altLang="en-US" sz="1400" dirty="0"/>
              <a:t>生成可能</a:t>
            </a:r>
            <a:r>
              <a:rPr lang="ja-JP" altLang="en-US" sz="1400"/>
              <a:t>とする。 </a:t>
            </a:r>
            <a:endParaRPr lang="en-US" altLang="ja-JP" sz="1400" dirty="0"/>
          </a:p>
          <a:p>
            <a:pPr marL="914400" lvl="2" indent="0">
              <a:lnSpc>
                <a:spcPct val="100000"/>
              </a:lnSpc>
              <a:buNone/>
            </a:pPr>
            <a:r>
              <a:rPr lang="en-US" altLang="ja-JP" sz="1400" dirty="0"/>
              <a:t>※ 1</a:t>
            </a:r>
            <a:r>
              <a:rPr lang="zh-CN" altLang="en-US" sz="1400" dirty="0"/>
              <a:t>次</a:t>
            </a:r>
            <a:r>
              <a:rPr lang="ja-JP" altLang="en-US" sz="1400"/>
              <a:t>ゴールの</a:t>
            </a:r>
            <a:r>
              <a:rPr lang="zh-CN" altLang="en-US" sz="1400" dirty="0"/>
              <a:t>達成</a:t>
            </a:r>
            <a:r>
              <a:rPr lang="ja-JP" altLang="en-US" sz="1400"/>
              <a:t>は、</a:t>
            </a:r>
            <a:r>
              <a:rPr lang="en-US" altLang="ja-JP" sz="1400" dirty="0"/>
              <a:t> 2</a:t>
            </a:r>
            <a:r>
              <a:rPr lang="ja-JP" altLang="en-US" sz="1400"/>
              <a:t>次以降のゴール実現の</a:t>
            </a:r>
            <a:r>
              <a:rPr lang="zh-CN" altLang="en-US" sz="1400" dirty="0"/>
              <a:t>ための</a:t>
            </a:r>
            <a:r>
              <a:rPr lang="ja-JP" altLang="en-US" sz="1400">
                <a:solidFill>
                  <a:srgbClr val="FF0000"/>
                </a:solidFill>
              </a:rPr>
              <a:t>前提条件</a:t>
            </a:r>
            <a:r>
              <a:rPr lang="ja-JP" altLang="en-US" sz="1400"/>
              <a:t>となる。 </a:t>
            </a:r>
            <a:endParaRPr lang="en-US" altLang="ja-JP" sz="1400" dirty="0"/>
          </a:p>
          <a:p>
            <a:pPr lvl="2">
              <a:lnSpc>
                <a:spcPct val="100000"/>
              </a:lnSpc>
            </a:pPr>
            <a:endParaRPr lang="ja-JP" altLang="en-US" sz="1400"/>
          </a:p>
          <a:p>
            <a:pPr lvl="1">
              <a:lnSpc>
                <a:spcPct val="100000"/>
              </a:lnSpc>
            </a:pPr>
            <a:r>
              <a:rPr lang="en-US" altLang="ja-JP" sz="1800" dirty="0"/>
              <a:t>2</a:t>
            </a:r>
            <a:r>
              <a:rPr lang="zh-CN" altLang="en-US" sz="1800" dirty="0"/>
              <a:t>次</a:t>
            </a:r>
            <a:r>
              <a:rPr lang="ja-JP" altLang="en-US" sz="1800"/>
              <a:t>ゴール：コード・テストの</a:t>
            </a:r>
            <a:r>
              <a:rPr lang="zh-CN" altLang="en-US" sz="1800" dirty="0"/>
              <a:t>自動生成</a:t>
            </a:r>
          </a:p>
          <a:p>
            <a:pPr lvl="2">
              <a:lnSpc>
                <a:spcPct val="100000"/>
              </a:lnSpc>
            </a:pPr>
            <a:r>
              <a:rPr lang="zh-CN" altLang="en-US" sz="1600" dirty="0"/>
              <a:t>本</a:t>
            </a:r>
            <a:r>
              <a:rPr lang="es-419" altLang="zh-CN" sz="1600" dirty="0"/>
              <a:t>PoC</a:t>
            </a:r>
            <a:r>
              <a:rPr lang="ja-JP" altLang="en-US" sz="1600"/>
              <a:t>で</a:t>
            </a:r>
            <a:r>
              <a:rPr lang="zh-CN" altLang="en-US" sz="1600" dirty="0"/>
              <a:t>生成</a:t>
            </a:r>
            <a:r>
              <a:rPr lang="ja-JP" altLang="en-US" sz="1600"/>
              <a:t>したドキュメントをもとに、プログラムコードとテストコードを</a:t>
            </a:r>
            <a:r>
              <a:rPr lang="zh-CN" altLang="en-US" sz="1600" dirty="0"/>
              <a:t>自動生成</a:t>
            </a:r>
            <a:r>
              <a:rPr lang="ja-JP" altLang="en-US" sz="1600"/>
              <a:t>する。</a:t>
            </a:r>
            <a:endParaRPr lang="en-US" altLang="ja-JP" sz="1600" dirty="0"/>
          </a:p>
          <a:p>
            <a:pPr lvl="2">
              <a:lnSpc>
                <a:spcPct val="100000"/>
              </a:lnSpc>
            </a:pPr>
            <a:endParaRPr lang="ja-JP" altLang="en-US" sz="1400"/>
          </a:p>
          <a:p>
            <a:pPr lvl="1">
              <a:lnSpc>
                <a:spcPct val="100000"/>
              </a:lnSpc>
            </a:pPr>
            <a:r>
              <a:rPr lang="en-US" altLang="ja-JP" sz="1800" dirty="0"/>
              <a:t>3</a:t>
            </a:r>
            <a:r>
              <a:rPr lang="zh-CN" altLang="en-US" sz="1800" dirty="0"/>
              <a:t>次</a:t>
            </a:r>
            <a:r>
              <a:rPr lang="ja-JP" altLang="en-US" sz="1800"/>
              <a:t>ゴール：</a:t>
            </a:r>
            <a:r>
              <a:rPr lang="es-419" altLang="zh-CN" sz="1800" dirty="0"/>
              <a:t>AI</a:t>
            </a:r>
            <a:r>
              <a:rPr lang="ja-JP" altLang="en-US" sz="1800"/>
              <a:t>を</a:t>
            </a:r>
            <a:r>
              <a:rPr lang="zh-CN" altLang="en-US" sz="1800" dirty="0"/>
              <a:t>前提</a:t>
            </a:r>
            <a:r>
              <a:rPr lang="ja-JP" altLang="en-US" sz="1800"/>
              <a:t>とした</a:t>
            </a:r>
            <a:r>
              <a:rPr lang="zh-CN" altLang="en-US" sz="1800" dirty="0"/>
              <a:t>開発</a:t>
            </a:r>
            <a:r>
              <a:rPr lang="ja-JP" altLang="en-US" sz="1800"/>
              <a:t>ワークフローの</a:t>
            </a:r>
            <a:r>
              <a:rPr lang="zh-CN" altLang="en-US" sz="1800" dirty="0"/>
              <a:t>確立</a:t>
            </a:r>
          </a:p>
          <a:p>
            <a:pPr lvl="2">
              <a:lnSpc>
                <a:spcPct val="100000"/>
              </a:lnSpc>
            </a:pPr>
            <a:r>
              <a:rPr lang="zh-CN" altLang="en-US" sz="1600" dirty="0"/>
              <a:t>当社独自</a:t>
            </a:r>
            <a:r>
              <a:rPr lang="ja-JP" altLang="en-US" sz="1600"/>
              <a:t>のノウハウを</a:t>
            </a:r>
            <a:r>
              <a:rPr lang="zh-CN" altLang="en-US" sz="1600" dirty="0"/>
              <a:t>組</a:t>
            </a:r>
            <a:r>
              <a:rPr lang="ja-JP" altLang="en-US" sz="1600"/>
              <a:t>み</a:t>
            </a:r>
            <a:r>
              <a:rPr lang="zh-CN" altLang="en-US" sz="1600" dirty="0"/>
              <a:t>込</a:t>
            </a:r>
            <a:r>
              <a:rPr lang="ja-JP" altLang="en-US" sz="1600"/>
              <a:t>んだ </a:t>
            </a:r>
            <a:r>
              <a:rPr lang="es-419" altLang="zh-CN" sz="1600" dirty="0"/>
              <a:t>AI </a:t>
            </a:r>
            <a:r>
              <a:rPr lang="zh-CN" altLang="en-US" sz="1600" dirty="0"/>
              <a:t>前提</a:t>
            </a:r>
            <a:r>
              <a:rPr lang="ja-JP" altLang="en-US" sz="1600"/>
              <a:t>の</a:t>
            </a:r>
            <a:r>
              <a:rPr lang="zh-CN" altLang="en-US" sz="1600" dirty="0"/>
              <a:t>開発</a:t>
            </a:r>
            <a:r>
              <a:rPr lang="ja-JP" altLang="en-US" sz="1600"/>
              <a:t>プロセスを</a:t>
            </a:r>
            <a:r>
              <a:rPr lang="zh-CN" altLang="en-US" sz="1600" dirty="0"/>
              <a:t>構築</a:t>
            </a:r>
            <a:r>
              <a:rPr lang="ja-JP" altLang="en-US" sz="1600"/>
              <a:t>し、</a:t>
            </a:r>
            <a:r>
              <a:rPr lang="zh-CN" altLang="en-US" sz="1600" dirty="0"/>
              <a:t>組織内</a:t>
            </a:r>
            <a:r>
              <a:rPr lang="ja-JP" altLang="en-US" sz="1600"/>
              <a:t>に</a:t>
            </a:r>
            <a:r>
              <a:rPr lang="zh-CN" altLang="en-US" sz="1600" dirty="0"/>
              <a:t>定着</a:t>
            </a:r>
            <a:r>
              <a:rPr lang="ja-JP" altLang="en-US" sz="1600"/>
              <a:t>させる。</a:t>
            </a:r>
            <a:endParaRPr lang="ja-JP" altLang="en-US" sz="180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5BFBF69-96CD-73DF-C5C4-CBE721BAD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ETCO LLC.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35AFEEC-D246-AC3A-9F50-533D151BC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52E6-07CA-9B46-B866-FDE18BF74505}" type="slidenum">
              <a:rPr lang="ja-JP" altLang="en-US" smtClean="0"/>
              <a:pPr/>
              <a:t>2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999654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20BCA-5281-DBF5-D18E-10412D61D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3AA722-CC4D-EF2A-A17B-E2E00B7A1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/>
              <a:t>プロジェクトのスコープ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3188C5-9D75-6D45-8F3F-D35A1E546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dirty="0"/>
              <a:t>本</a:t>
            </a:r>
            <a:r>
              <a:rPr lang="ja-JP" altLang="en-US" sz="2000"/>
              <a:t>プロジェクトのスコープは、</a:t>
            </a:r>
            <a:r>
              <a:rPr lang="en-US" altLang="ja-JP" sz="2000" dirty="0"/>
              <a:t>1</a:t>
            </a:r>
            <a:r>
              <a:rPr lang="zh-CN" altLang="en-US" sz="2000" dirty="0"/>
              <a:t>次</a:t>
            </a:r>
            <a:r>
              <a:rPr lang="ja-JP" altLang="en-US" sz="2000"/>
              <a:t>ゴールである「</a:t>
            </a:r>
            <a:r>
              <a:rPr lang="zh-CN" altLang="en-US" sz="2000" dirty="0"/>
              <a:t>開発</a:t>
            </a:r>
            <a:r>
              <a:rPr lang="ja-JP" altLang="en-US" sz="2000"/>
              <a:t>ドキュメントの</a:t>
            </a:r>
            <a:r>
              <a:rPr lang="zh-CN" altLang="en-US" sz="2000" dirty="0"/>
              <a:t>自動生成」</a:t>
            </a:r>
            <a:r>
              <a:rPr lang="ja-JP" altLang="en-US" sz="2000"/>
              <a:t>を</a:t>
            </a:r>
            <a:r>
              <a:rPr lang="zh-CN" altLang="en-US" sz="2000" dirty="0"/>
              <a:t>達成</a:t>
            </a:r>
            <a:r>
              <a:rPr lang="ja-JP" altLang="en-US" sz="2000"/>
              <a:t>するために</a:t>
            </a:r>
            <a:r>
              <a:rPr lang="zh-CN" altLang="en-US" sz="2000" dirty="0"/>
              <a:t>必要</a:t>
            </a:r>
            <a:r>
              <a:rPr lang="ja-JP" altLang="en-US" sz="2000"/>
              <a:t>な、</a:t>
            </a:r>
            <a:r>
              <a:rPr lang="zh-CN" altLang="en-US" sz="2000" dirty="0"/>
              <a:t>以下</a:t>
            </a:r>
            <a:r>
              <a:rPr lang="ja-JP" altLang="en-US" sz="2000"/>
              <a:t>に</a:t>
            </a:r>
            <a:r>
              <a:rPr lang="zh-CN" altLang="en-US" sz="2000" dirty="0"/>
              <a:t>示</a:t>
            </a:r>
            <a:r>
              <a:rPr lang="ja-JP" altLang="en-US" sz="2000"/>
              <a:t>す</a:t>
            </a:r>
            <a:r>
              <a:rPr lang="zh-CN" altLang="en-US" sz="2000" dirty="0"/>
              <a:t>全</a:t>
            </a:r>
            <a:r>
              <a:rPr lang="ja-JP" altLang="en-US" sz="2000"/>
              <a:t>てのタスクを</a:t>
            </a:r>
            <a:r>
              <a:rPr lang="zh-CN" altLang="en-US" sz="2000" dirty="0"/>
              <a:t>対象</a:t>
            </a:r>
            <a:r>
              <a:rPr lang="ja-JP" altLang="en-US" sz="2000"/>
              <a:t>とする。</a:t>
            </a:r>
            <a:endParaRPr lang="en-US" altLang="ja-JP" sz="2000" dirty="0"/>
          </a:p>
          <a:p>
            <a:pPr lvl="1">
              <a:lnSpc>
                <a:spcPct val="100000"/>
              </a:lnSpc>
            </a:pPr>
            <a:endParaRPr lang="ja-JP" altLang="en-US" sz="1400"/>
          </a:p>
          <a:p>
            <a:pPr lvl="1">
              <a:lnSpc>
                <a:spcPct val="100000"/>
              </a:lnSpc>
            </a:pPr>
            <a:r>
              <a:rPr lang="zh-CN" altLang="en-US" sz="1600" b="1" dirty="0"/>
              <a:t>生成対象</a:t>
            </a:r>
            <a:r>
              <a:rPr lang="ja-JP" altLang="en-US" sz="1600" b="1"/>
              <a:t>ドキュメントリストの</a:t>
            </a:r>
            <a:r>
              <a:rPr lang="zh-CN" altLang="en-US" sz="1600" b="1" dirty="0"/>
              <a:t>作成</a:t>
            </a:r>
            <a:r>
              <a:rPr lang="ja-JP" altLang="en-US" sz="1600" b="1"/>
              <a:t>と</a:t>
            </a:r>
            <a:r>
              <a:rPr lang="zh-CN" altLang="en-US" sz="1600" b="1" dirty="0"/>
              <a:t>整理</a:t>
            </a:r>
            <a:r>
              <a:rPr lang="zh-CN" altLang="en-US" sz="1600" dirty="0"/>
              <a:t> </a:t>
            </a:r>
          </a:p>
          <a:p>
            <a:pPr lvl="2">
              <a:lnSpc>
                <a:spcPct val="100000"/>
              </a:lnSpc>
            </a:pPr>
            <a:r>
              <a:rPr lang="es-419" altLang="zh-CN" sz="1400" dirty="0"/>
              <a:t>AI</a:t>
            </a:r>
            <a:r>
              <a:rPr lang="ja-JP" altLang="en-US" sz="1400"/>
              <a:t>による</a:t>
            </a:r>
            <a:r>
              <a:rPr lang="zh-CN" altLang="en-US" sz="1400" dirty="0"/>
              <a:t>自動生成</a:t>
            </a:r>
            <a:r>
              <a:rPr lang="ja-JP" altLang="en-US" sz="1400"/>
              <a:t>の</a:t>
            </a:r>
            <a:r>
              <a:rPr lang="zh-CN" altLang="en-US" sz="1400" dirty="0"/>
              <a:t>対象</a:t>
            </a:r>
            <a:r>
              <a:rPr lang="ja-JP" altLang="en-US" sz="1400"/>
              <a:t>とするドキュメントを</a:t>
            </a:r>
            <a:r>
              <a:rPr lang="zh-CN" altLang="en-US" sz="1400" dirty="0"/>
              <a:t>明確化</a:t>
            </a:r>
            <a:r>
              <a:rPr lang="ja-JP" altLang="en-US" sz="1400"/>
              <a:t>する。 </a:t>
            </a:r>
          </a:p>
          <a:p>
            <a:pPr lvl="1">
              <a:lnSpc>
                <a:spcPct val="100000"/>
              </a:lnSpc>
            </a:pPr>
            <a:r>
              <a:rPr lang="zh-CN" altLang="en-US" sz="1600" b="1" dirty="0"/>
              <a:t>学習候補</a:t>
            </a:r>
            <a:r>
              <a:rPr lang="ja-JP" altLang="en-US" sz="1600" b="1"/>
              <a:t>データのリスト</a:t>
            </a:r>
            <a:r>
              <a:rPr lang="zh-CN" altLang="en-US" sz="1600" b="1" dirty="0"/>
              <a:t>作成</a:t>
            </a:r>
            <a:r>
              <a:rPr lang="ja-JP" altLang="en-US" sz="1600" b="1"/>
              <a:t>と</a:t>
            </a:r>
            <a:r>
              <a:rPr lang="zh-CN" altLang="en-US" sz="1600" b="1" dirty="0"/>
              <a:t>整理</a:t>
            </a:r>
            <a:r>
              <a:rPr lang="zh-CN" altLang="en-US" sz="1600" dirty="0"/>
              <a:t> </a:t>
            </a:r>
          </a:p>
          <a:p>
            <a:pPr lvl="2">
              <a:lnSpc>
                <a:spcPct val="100000"/>
              </a:lnSpc>
            </a:pPr>
            <a:r>
              <a:rPr lang="es-419" altLang="zh-CN" sz="1400" dirty="0"/>
              <a:t>AI</a:t>
            </a:r>
            <a:r>
              <a:rPr lang="ja-JP" altLang="en-US" sz="1400"/>
              <a:t>の</a:t>
            </a:r>
            <a:r>
              <a:rPr lang="zh-CN" altLang="en-US" sz="1400" dirty="0"/>
              <a:t>学習対象</a:t>
            </a:r>
            <a:r>
              <a:rPr lang="ja-JP" altLang="en-US" sz="1400"/>
              <a:t>とするデータや、</a:t>
            </a:r>
            <a:r>
              <a:rPr lang="zh-CN" altLang="en-US" sz="1400" dirty="0"/>
              <a:t>学習時</a:t>
            </a:r>
            <a:r>
              <a:rPr lang="ja-JP" altLang="en-US" sz="1400"/>
              <a:t>のポイントを</a:t>
            </a:r>
            <a:r>
              <a:rPr lang="zh-CN" altLang="en-US" sz="1400" dirty="0"/>
              <a:t>明確化</a:t>
            </a:r>
            <a:r>
              <a:rPr lang="ja-JP" altLang="en-US" sz="1400"/>
              <a:t>する。 </a:t>
            </a:r>
          </a:p>
          <a:p>
            <a:pPr lvl="1">
              <a:lnSpc>
                <a:spcPct val="100000"/>
              </a:lnSpc>
            </a:pPr>
            <a:r>
              <a:rPr lang="zh-CN" altLang="en-US" sz="1600" b="1" dirty="0"/>
              <a:t>学習候補</a:t>
            </a:r>
            <a:r>
              <a:rPr lang="ja-JP" altLang="en-US" sz="1600" b="1"/>
              <a:t>データの</a:t>
            </a:r>
            <a:r>
              <a:rPr lang="zh-CN" altLang="en-US" sz="1600" b="1" dirty="0"/>
              <a:t>学習</a:t>
            </a:r>
            <a:r>
              <a:rPr lang="ja-JP" altLang="en-US" sz="1600" b="1"/>
              <a:t>データ</a:t>
            </a:r>
            <a:r>
              <a:rPr lang="zh-CN" altLang="en-US" sz="1600" b="1" dirty="0"/>
              <a:t>化（</a:t>
            </a:r>
            <a:r>
              <a:rPr lang="es-419" altLang="zh-CN" sz="1600" b="1" dirty="0"/>
              <a:t>md</a:t>
            </a:r>
            <a:r>
              <a:rPr lang="ja-JP" altLang="en-US" sz="1600" b="1"/>
              <a:t>テンプレート</a:t>
            </a:r>
            <a:r>
              <a:rPr lang="zh-CN" altLang="en-US" sz="1600" b="1" dirty="0"/>
              <a:t>化）</a:t>
            </a:r>
            <a:r>
              <a:rPr lang="zh-CN" altLang="en-US" sz="1600" dirty="0"/>
              <a:t> </a:t>
            </a:r>
          </a:p>
          <a:p>
            <a:pPr lvl="2">
              <a:lnSpc>
                <a:spcPct val="100000"/>
              </a:lnSpc>
            </a:pPr>
            <a:r>
              <a:rPr lang="zh-CN" altLang="en-US" sz="1400" dirty="0"/>
              <a:t>収集</a:t>
            </a:r>
            <a:r>
              <a:rPr lang="ja-JP" altLang="en-US" sz="1400"/>
              <a:t>したドキュメントを、</a:t>
            </a:r>
            <a:r>
              <a:rPr lang="es-419" altLang="zh-CN" sz="1400" dirty="0"/>
              <a:t>AI</a:t>
            </a:r>
            <a:r>
              <a:rPr lang="ja-JP" altLang="en-US" sz="1400"/>
              <a:t>が</a:t>
            </a:r>
            <a:r>
              <a:rPr lang="zh-CN" altLang="en-US" sz="1400" dirty="0"/>
              <a:t>学習</a:t>
            </a:r>
            <a:r>
              <a:rPr lang="ja-JP" altLang="en-US" sz="1400"/>
              <a:t>しやすい</a:t>
            </a:r>
            <a:r>
              <a:rPr lang="es-419" altLang="zh-CN" sz="1400" dirty="0"/>
              <a:t>Markdown</a:t>
            </a:r>
            <a:r>
              <a:rPr lang="zh-CN" altLang="en-US" sz="1400" dirty="0"/>
              <a:t>形式</a:t>
            </a:r>
            <a:r>
              <a:rPr lang="ja-JP" altLang="en-US" sz="1400"/>
              <a:t>のテンプレートに</a:t>
            </a:r>
            <a:r>
              <a:rPr lang="zh-CN" altLang="en-US" sz="1400" dirty="0"/>
              <a:t>変換</a:t>
            </a:r>
            <a:r>
              <a:rPr lang="ja-JP" altLang="en-US" sz="1400"/>
              <a:t>する。 </a:t>
            </a:r>
          </a:p>
          <a:p>
            <a:pPr lvl="1">
              <a:lnSpc>
                <a:spcPct val="100000"/>
              </a:lnSpc>
            </a:pPr>
            <a:r>
              <a:rPr lang="zh-CN" altLang="en-US" sz="1600" b="1" dirty="0"/>
              <a:t>簡易</a:t>
            </a:r>
            <a:r>
              <a:rPr lang="ja-JP" altLang="en-US" sz="1600" b="1"/>
              <a:t>ツールによる</a:t>
            </a:r>
            <a:r>
              <a:rPr lang="zh-CN" altLang="en-US" sz="1600" b="1" dirty="0"/>
              <a:t>生成実証（</a:t>
            </a:r>
            <a:r>
              <a:rPr lang="es-419" altLang="zh-CN" sz="1600" b="1" dirty="0"/>
              <a:t>PoC</a:t>
            </a:r>
            <a:r>
              <a:rPr lang="zh-CN" altLang="es-419" sz="1600" b="1" dirty="0"/>
              <a:t>）</a:t>
            </a:r>
            <a:r>
              <a:rPr lang="es-419" altLang="zh-CN" sz="1600" dirty="0"/>
              <a:t> </a:t>
            </a:r>
          </a:p>
          <a:p>
            <a:pPr lvl="2">
              <a:lnSpc>
                <a:spcPct val="100000"/>
              </a:lnSpc>
            </a:pPr>
            <a:r>
              <a:rPr lang="es-419" altLang="zh-CN" sz="1400" dirty="0"/>
              <a:t>NotebookLM</a:t>
            </a:r>
            <a:r>
              <a:rPr lang="zh-CN" altLang="en-US" sz="1400" dirty="0"/>
              <a:t>等</a:t>
            </a:r>
            <a:r>
              <a:rPr lang="ja-JP" altLang="en-US" sz="1400"/>
              <a:t>の</a:t>
            </a:r>
            <a:r>
              <a:rPr lang="zh-CN" altLang="en-US" sz="1400" dirty="0"/>
              <a:t>汎用的</a:t>
            </a:r>
            <a:r>
              <a:rPr lang="ja-JP" altLang="en-US" sz="1400"/>
              <a:t>なツールを</a:t>
            </a:r>
            <a:r>
              <a:rPr lang="zh-CN" altLang="en-US" sz="1400" dirty="0"/>
              <a:t>用</a:t>
            </a:r>
            <a:r>
              <a:rPr lang="ja-JP" altLang="en-US" sz="1400"/>
              <a:t>い、ドキュメント</a:t>
            </a:r>
            <a:r>
              <a:rPr lang="zh-CN" altLang="en-US" sz="1400" dirty="0"/>
              <a:t>生成</a:t>
            </a:r>
            <a:r>
              <a:rPr lang="ja-JP" altLang="en-US" sz="1400"/>
              <a:t>の</a:t>
            </a:r>
            <a:r>
              <a:rPr lang="zh-CN" altLang="en-US" sz="1400" dirty="0"/>
              <a:t>効果</a:t>
            </a:r>
            <a:r>
              <a:rPr lang="ja-JP" altLang="en-US" sz="1400"/>
              <a:t>を</a:t>
            </a:r>
            <a:r>
              <a:rPr lang="zh-CN" altLang="en-US" sz="1400" dirty="0"/>
              <a:t>検証</a:t>
            </a:r>
            <a:r>
              <a:rPr lang="ja-JP" altLang="en-US" sz="1400"/>
              <a:t>する。 </a:t>
            </a:r>
          </a:p>
          <a:p>
            <a:pPr lvl="1">
              <a:lnSpc>
                <a:spcPct val="100000"/>
              </a:lnSpc>
            </a:pPr>
            <a:r>
              <a:rPr lang="zh-CN" altLang="en-US" sz="1600" b="1" dirty="0"/>
              <a:t>生成</a:t>
            </a:r>
            <a:r>
              <a:rPr lang="ja-JP" altLang="en-US" sz="1600" b="1"/>
              <a:t>ドキュメントの</a:t>
            </a:r>
            <a:r>
              <a:rPr lang="zh-CN" altLang="en-US" sz="1600" b="1" dirty="0"/>
              <a:t>種別</a:t>
            </a:r>
            <a:endParaRPr lang="zh-CN" altLang="en-US" sz="1600" dirty="0"/>
          </a:p>
          <a:p>
            <a:pPr lvl="2">
              <a:lnSpc>
                <a:spcPct val="100000"/>
              </a:lnSpc>
            </a:pPr>
            <a:r>
              <a:rPr lang="zh-CN" altLang="en-US" sz="1400" dirty="0"/>
              <a:t>生成</a:t>
            </a:r>
            <a:r>
              <a:rPr lang="ja-JP" altLang="en-US" sz="1400"/>
              <a:t>するドキュメントは、「</a:t>
            </a:r>
            <a:r>
              <a:rPr lang="zh-CN" altLang="en-US" sz="1400" dirty="0"/>
              <a:t>一般用」</a:t>
            </a:r>
            <a:r>
              <a:rPr lang="ja-JP" altLang="en-US" sz="1400"/>
              <a:t>および「イオン</a:t>
            </a:r>
            <a:r>
              <a:rPr lang="zh-CN" altLang="en-US" sz="1400" dirty="0"/>
              <a:t>用」</a:t>
            </a:r>
            <a:r>
              <a:rPr lang="ja-JP" altLang="en-US" sz="1400"/>
              <a:t>を</a:t>
            </a:r>
            <a:r>
              <a:rPr lang="zh-CN" altLang="en-US" sz="1400" dirty="0"/>
              <a:t>対象</a:t>
            </a:r>
            <a:r>
              <a:rPr lang="ja-JP" altLang="en-US" sz="1400"/>
              <a:t>とし、それぞれ「</a:t>
            </a:r>
            <a:r>
              <a:rPr lang="zh-CN" altLang="en-US" sz="1400" dirty="0"/>
              <a:t>小規模」「中規模」「大規模」</a:t>
            </a:r>
            <a:r>
              <a:rPr lang="ja-JP" altLang="en-US" sz="1400"/>
              <a:t>のプロジェクト</a:t>
            </a:r>
            <a:r>
              <a:rPr lang="zh-CN" altLang="en-US" sz="1400" dirty="0"/>
              <a:t>規模</a:t>
            </a:r>
            <a:r>
              <a:rPr lang="ja-JP" altLang="en-US" sz="1400"/>
              <a:t>に</a:t>
            </a:r>
            <a:r>
              <a:rPr lang="zh-CN" altLang="en-US" sz="1400" dirty="0"/>
              <a:t>対応</a:t>
            </a:r>
            <a:r>
              <a:rPr lang="ja-JP" altLang="en-US" sz="1400"/>
              <a:t>させる。 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4366D61-5449-30D8-DAF3-BED63E40C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ETCO LLC.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1171B08-D8A7-EBD2-1532-FBBA22DCA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52E6-07CA-9B46-B866-FDE18BF74505}" type="slidenum">
              <a:rPr lang="ja-JP" altLang="en-US" smtClean="0"/>
              <a:pPr/>
              <a:t>3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9187378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51ED8-4368-0653-2281-400876ECF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53CC8B-79CA-4377-D5CB-0BBA9414C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dirty="0"/>
              <a:t>成果物</a:t>
            </a:r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368A93-484A-46C2-16B0-EBE18BC53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zh-CN" altLang="en-US" sz="2000" dirty="0"/>
              <a:t>本</a:t>
            </a:r>
            <a:r>
              <a:rPr lang="ja-JP" altLang="en-US" sz="2000"/>
              <a:t>プロジェクトでは、</a:t>
            </a:r>
            <a:r>
              <a:rPr lang="zh-CN" altLang="en-US" sz="2000" dirty="0"/>
              <a:t>以下</a:t>
            </a:r>
            <a:r>
              <a:rPr lang="ja-JP" altLang="en-US" sz="2000"/>
              <a:t>のドキュメントおよびデータ を</a:t>
            </a:r>
            <a:r>
              <a:rPr lang="zh-CN" altLang="en-US" sz="2000" dirty="0"/>
              <a:t>主要</a:t>
            </a:r>
            <a:r>
              <a:rPr lang="ja-JP" altLang="en-US" sz="2000"/>
              <a:t>な</a:t>
            </a:r>
            <a:r>
              <a:rPr lang="zh-CN" altLang="en-US" sz="2000" dirty="0"/>
              <a:t>成果物</a:t>
            </a:r>
            <a:r>
              <a:rPr lang="ja-JP" altLang="en-US" sz="2000"/>
              <a:t>とする</a:t>
            </a:r>
            <a:r>
              <a:rPr lang="zh-CN" altLang="en-US" sz="2000" dirty="0"/>
              <a:t>。</a:t>
            </a:r>
            <a:endParaRPr lang="en-US" altLang="zh-CN" sz="2000" dirty="0"/>
          </a:p>
          <a:p>
            <a:pPr>
              <a:lnSpc>
                <a:spcPct val="100000"/>
              </a:lnSpc>
            </a:pPr>
            <a:endParaRPr lang="ja-JP" altLang="en-US" sz="1400"/>
          </a:p>
          <a:p>
            <a:pPr marL="457200" lvl="1" indent="0">
              <a:buNone/>
            </a:pPr>
            <a:endParaRPr lang="ja-JP" altLang="en-US" sz="140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0ABAF9F-ED2A-B2B8-08FD-7B54DDEA3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ETCO LLC.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F3C0681-EC61-E2DB-F4A3-5B7C688FD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2052E6-07CA-9B46-B866-FDE18BF74505}" type="slidenum">
              <a:rPr lang="ja-JP" altLang="en-US" smtClean="0"/>
              <a:pPr/>
              <a:t>4</a:t>
            </a:fld>
            <a:endParaRPr lang="ja-JP" altLang="en-US"/>
          </a:p>
        </p:txBody>
      </p:sp>
      <p:sp>
        <p:nvSpPr>
          <p:cNvPr id="11" name="正方形/長方形 23">
            <a:extLst>
              <a:ext uri="{FF2B5EF4-FFF2-40B4-BE49-F238E27FC236}">
                <a16:creationId xmlns:a16="http://schemas.microsoft.com/office/drawing/2014/main" id="{1FDFD32B-3F73-D0E9-016C-B4FD571EC5CA}"/>
              </a:ext>
            </a:extLst>
          </p:cNvPr>
          <p:cNvSpPr/>
          <p:nvPr/>
        </p:nvSpPr>
        <p:spPr>
          <a:xfrm>
            <a:off x="4861912" y="1657461"/>
            <a:ext cx="6346115" cy="4993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概要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2" name="正方形/長方形 66">
            <a:extLst>
              <a:ext uri="{FF2B5EF4-FFF2-40B4-BE49-F238E27FC236}">
                <a16:creationId xmlns:a16="http://schemas.microsoft.com/office/drawing/2014/main" id="{E8F91432-2525-9556-FB20-D7E301F15667}"/>
              </a:ext>
            </a:extLst>
          </p:cNvPr>
          <p:cNvSpPr/>
          <p:nvPr/>
        </p:nvSpPr>
        <p:spPr>
          <a:xfrm>
            <a:off x="1538868" y="2156791"/>
            <a:ext cx="3323063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プロジェクト計画書（本書）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5" name="正方形/長方形 74">
            <a:extLst>
              <a:ext uri="{FF2B5EF4-FFF2-40B4-BE49-F238E27FC236}">
                <a16:creationId xmlns:a16="http://schemas.microsoft.com/office/drawing/2014/main" id="{AE143636-A88D-09D8-FDCE-2CE984AC8FBE}"/>
              </a:ext>
            </a:extLst>
          </p:cNvPr>
          <p:cNvSpPr/>
          <p:nvPr/>
        </p:nvSpPr>
        <p:spPr>
          <a:xfrm>
            <a:off x="1538866" y="1657461"/>
            <a:ext cx="3323066" cy="4993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成果物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6" name="正方形/長方形 66">
            <a:extLst>
              <a:ext uri="{FF2B5EF4-FFF2-40B4-BE49-F238E27FC236}">
                <a16:creationId xmlns:a16="http://schemas.microsoft.com/office/drawing/2014/main" id="{12C265C8-C3B1-54AB-2B3B-F9D575972C66}"/>
              </a:ext>
            </a:extLst>
          </p:cNvPr>
          <p:cNvSpPr/>
          <p:nvPr/>
        </p:nvSpPr>
        <p:spPr>
          <a:xfrm>
            <a:off x="4861915" y="2156791"/>
            <a:ext cx="6346109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本プロジェクトの目的・スコープ・スケジュールを定義した文書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9" name="正方形/長方形 66">
            <a:extLst>
              <a:ext uri="{FF2B5EF4-FFF2-40B4-BE49-F238E27FC236}">
                <a16:creationId xmlns:a16="http://schemas.microsoft.com/office/drawing/2014/main" id="{E4FE4512-E3B7-CBE2-8E25-6C2E459E839D}"/>
              </a:ext>
            </a:extLst>
          </p:cNvPr>
          <p:cNvSpPr/>
          <p:nvPr/>
        </p:nvSpPr>
        <p:spPr>
          <a:xfrm>
            <a:off x="1538865" y="2580537"/>
            <a:ext cx="3323063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419" altLang="ja-JP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WBS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表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0" name="正方形/長方形 66">
            <a:extLst>
              <a:ext uri="{FF2B5EF4-FFF2-40B4-BE49-F238E27FC236}">
                <a16:creationId xmlns:a16="http://schemas.microsoft.com/office/drawing/2014/main" id="{1528D502-8FFB-C6B7-D010-8D9B4E3BEA6F}"/>
              </a:ext>
            </a:extLst>
          </p:cNvPr>
          <p:cNvSpPr/>
          <p:nvPr/>
        </p:nvSpPr>
        <p:spPr>
          <a:xfrm>
            <a:off x="4861912" y="2580537"/>
            <a:ext cx="6346109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タスクの全体像を整理し、進捗管理を行うために使用</a:t>
            </a:r>
          </a:p>
        </p:txBody>
      </p:sp>
      <p:sp>
        <p:nvSpPr>
          <p:cNvPr id="21" name="正方形/長方形 66">
            <a:extLst>
              <a:ext uri="{FF2B5EF4-FFF2-40B4-BE49-F238E27FC236}">
                <a16:creationId xmlns:a16="http://schemas.microsoft.com/office/drawing/2014/main" id="{49917895-F966-AFF3-0240-ED0466DC88B2}"/>
              </a:ext>
            </a:extLst>
          </p:cNvPr>
          <p:cNvSpPr/>
          <p:nvPr/>
        </p:nvSpPr>
        <p:spPr>
          <a:xfrm>
            <a:off x="1538865" y="3006609"/>
            <a:ext cx="3323063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生成対象ドキュメントリスト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2" name="正方形/長方形 66">
            <a:extLst>
              <a:ext uri="{FF2B5EF4-FFF2-40B4-BE49-F238E27FC236}">
                <a16:creationId xmlns:a16="http://schemas.microsoft.com/office/drawing/2014/main" id="{19C46A13-458F-55CF-AE45-1942F17BF390}"/>
              </a:ext>
            </a:extLst>
          </p:cNvPr>
          <p:cNvSpPr/>
          <p:nvPr/>
        </p:nvSpPr>
        <p:spPr>
          <a:xfrm>
            <a:off x="4861912" y="3006609"/>
            <a:ext cx="6346109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自動生成対象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の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種類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と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範囲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を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明確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にするための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整理表</a:t>
            </a:r>
          </a:p>
        </p:txBody>
      </p:sp>
      <p:sp>
        <p:nvSpPr>
          <p:cNvPr id="25" name="正方形/長方形 66">
            <a:extLst>
              <a:ext uri="{FF2B5EF4-FFF2-40B4-BE49-F238E27FC236}">
                <a16:creationId xmlns:a16="http://schemas.microsoft.com/office/drawing/2014/main" id="{4F52EAC9-D11B-0B41-E5D1-598891595752}"/>
              </a:ext>
            </a:extLst>
          </p:cNvPr>
          <p:cNvSpPr/>
          <p:nvPr/>
        </p:nvSpPr>
        <p:spPr>
          <a:xfrm>
            <a:off x="1538865" y="3429972"/>
            <a:ext cx="3323063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学習候補ドキュメントリスト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6" name="正方形/長方形 66">
            <a:extLst>
              <a:ext uri="{FF2B5EF4-FFF2-40B4-BE49-F238E27FC236}">
                <a16:creationId xmlns:a16="http://schemas.microsoft.com/office/drawing/2014/main" id="{AC47ED9E-18EA-2611-72B5-9C3D3766EC93}"/>
              </a:ext>
            </a:extLst>
          </p:cNvPr>
          <p:cNvSpPr/>
          <p:nvPr/>
        </p:nvSpPr>
        <p:spPr>
          <a:xfrm>
            <a:off x="4861912" y="3429972"/>
            <a:ext cx="6346109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学習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に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使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う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資料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を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選定・管理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するためのリスト</a:t>
            </a:r>
          </a:p>
        </p:txBody>
      </p:sp>
      <p:sp>
        <p:nvSpPr>
          <p:cNvPr id="27" name="正方形/長方形 66">
            <a:extLst>
              <a:ext uri="{FF2B5EF4-FFF2-40B4-BE49-F238E27FC236}">
                <a16:creationId xmlns:a16="http://schemas.microsoft.com/office/drawing/2014/main" id="{BA00B651-3A18-3401-230B-AD547ADFC79A}"/>
              </a:ext>
            </a:extLst>
          </p:cNvPr>
          <p:cNvSpPr/>
          <p:nvPr/>
        </p:nvSpPr>
        <p:spPr>
          <a:xfrm>
            <a:off x="1538861" y="3846105"/>
            <a:ext cx="3323063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収集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した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データファイル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28" name="正方形/長方形 66">
            <a:extLst>
              <a:ext uri="{FF2B5EF4-FFF2-40B4-BE49-F238E27FC236}">
                <a16:creationId xmlns:a16="http://schemas.microsoft.com/office/drawing/2014/main" id="{6090DBAE-1EDE-23C4-D97D-8600CCDE1C1E}"/>
              </a:ext>
            </a:extLst>
          </p:cNvPr>
          <p:cNvSpPr/>
          <p:nvPr/>
        </p:nvSpPr>
        <p:spPr>
          <a:xfrm>
            <a:off x="4861908" y="3846105"/>
            <a:ext cx="6346109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学習用資料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をテキスト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化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し、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変換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の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前処理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に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使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う</a:t>
            </a:r>
          </a:p>
        </p:txBody>
      </p:sp>
      <p:sp>
        <p:nvSpPr>
          <p:cNvPr id="31" name="正方形/長方形 66">
            <a:extLst>
              <a:ext uri="{FF2B5EF4-FFF2-40B4-BE49-F238E27FC236}">
                <a16:creationId xmlns:a16="http://schemas.microsoft.com/office/drawing/2014/main" id="{7105F5F6-F379-D3F3-B1D8-697EE3758FFF}"/>
              </a:ext>
            </a:extLst>
          </p:cNvPr>
          <p:cNvSpPr/>
          <p:nvPr/>
        </p:nvSpPr>
        <p:spPr>
          <a:xfrm>
            <a:off x="1538857" y="4267525"/>
            <a:ext cx="3323063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419" altLang="ja-JP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Markdown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形式の学習データ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2" name="正方形/長方形 66">
            <a:extLst>
              <a:ext uri="{FF2B5EF4-FFF2-40B4-BE49-F238E27FC236}">
                <a16:creationId xmlns:a16="http://schemas.microsoft.com/office/drawing/2014/main" id="{B1B42C81-6C44-D7F7-F7D5-960CFC0476D9}"/>
              </a:ext>
            </a:extLst>
          </p:cNvPr>
          <p:cNvSpPr/>
          <p:nvPr/>
        </p:nvSpPr>
        <p:spPr>
          <a:xfrm>
            <a:off x="4861904" y="4267525"/>
            <a:ext cx="6346109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生成検証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に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使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う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実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データセット</a:t>
            </a:r>
          </a:p>
        </p:txBody>
      </p:sp>
      <p:sp>
        <p:nvSpPr>
          <p:cNvPr id="33" name="正方形/長方形 66">
            <a:extLst>
              <a:ext uri="{FF2B5EF4-FFF2-40B4-BE49-F238E27FC236}">
                <a16:creationId xmlns:a16="http://schemas.microsoft.com/office/drawing/2014/main" id="{F963A884-54A9-9B5C-50E7-4952E780CF39}"/>
              </a:ext>
            </a:extLst>
          </p:cNvPr>
          <p:cNvSpPr/>
          <p:nvPr/>
        </p:nvSpPr>
        <p:spPr>
          <a:xfrm>
            <a:off x="1538853" y="4675662"/>
            <a:ext cx="3323063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プロンプト集（</a:t>
            </a:r>
            <a:r>
              <a:rPr lang="es-419" altLang="ja-JP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v1.0</a:t>
            </a:r>
            <a:r>
              <a:rPr lang="ja-JP" altLang="es-419" sz="1400">
                <a:latin typeface="Meiryo UI" panose="020B0604030504040204" pitchFamily="34" charset="-128"/>
                <a:ea typeface="Meiryo UI" panose="020B0604030504040204" pitchFamily="34" charset="-128"/>
              </a:rPr>
              <a:t>）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およびテスト出力事例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4" name="正方形/長方形 66">
            <a:extLst>
              <a:ext uri="{FF2B5EF4-FFF2-40B4-BE49-F238E27FC236}">
                <a16:creationId xmlns:a16="http://schemas.microsoft.com/office/drawing/2014/main" id="{ACA5C5AD-CFF3-CFE8-C4DA-D6F940FC4544}"/>
              </a:ext>
            </a:extLst>
          </p:cNvPr>
          <p:cNvSpPr/>
          <p:nvPr/>
        </p:nvSpPr>
        <p:spPr>
          <a:xfrm>
            <a:off x="4861900" y="4675662"/>
            <a:ext cx="6346109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検証対象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の</a:t>
            </a:r>
            <a:r>
              <a:rPr lang="es-419" altLang="zh-CN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AI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ツールの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違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いを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把握・選定判断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に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使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う</a:t>
            </a:r>
          </a:p>
        </p:txBody>
      </p:sp>
      <p:sp>
        <p:nvSpPr>
          <p:cNvPr id="37" name="正方形/長方形 66">
            <a:extLst>
              <a:ext uri="{FF2B5EF4-FFF2-40B4-BE49-F238E27FC236}">
                <a16:creationId xmlns:a16="http://schemas.microsoft.com/office/drawing/2014/main" id="{DADEBD79-48B8-EBAF-932C-04E5D9761678}"/>
              </a:ext>
            </a:extLst>
          </p:cNvPr>
          <p:cNvSpPr/>
          <p:nvPr/>
        </p:nvSpPr>
        <p:spPr>
          <a:xfrm>
            <a:off x="1538849" y="5097082"/>
            <a:ext cx="3323063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共有用ノウハウ資料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38" name="正方形/長方形 66">
            <a:extLst>
              <a:ext uri="{FF2B5EF4-FFF2-40B4-BE49-F238E27FC236}">
                <a16:creationId xmlns:a16="http://schemas.microsoft.com/office/drawing/2014/main" id="{19A80B04-13F8-A6A6-1C7F-CF0BD6EA72A4}"/>
              </a:ext>
            </a:extLst>
          </p:cNvPr>
          <p:cNvSpPr/>
          <p:nvPr/>
        </p:nvSpPr>
        <p:spPr>
          <a:xfrm>
            <a:off x="4861896" y="5097082"/>
            <a:ext cx="6346109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データ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整備・検証手順・改善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ポイントなどをチーム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内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で</a:t>
            </a:r>
            <a:r>
              <a:rPr lang="zh-CN" altLang="en-US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共有</a:t>
            </a:r>
            <a:r>
              <a:rPr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するためのまとめ</a:t>
            </a:r>
          </a:p>
        </p:txBody>
      </p:sp>
      <p:sp>
        <p:nvSpPr>
          <p:cNvPr id="6" name="正方形/長方形 66">
            <a:extLst>
              <a:ext uri="{FF2B5EF4-FFF2-40B4-BE49-F238E27FC236}">
                <a16:creationId xmlns:a16="http://schemas.microsoft.com/office/drawing/2014/main" id="{9AEF4A5E-2BFB-B5EA-0C53-676F5DC8828B}"/>
              </a:ext>
            </a:extLst>
          </p:cNvPr>
          <p:cNvSpPr/>
          <p:nvPr/>
        </p:nvSpPr>
        <p:spPr>
          <a:xfrm>
            <a:off x="810322" y="2156791"/>
            <a:ext cx="728527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1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" name="正方形/長方形 74">
            <a:extLst>
              <a:ext uri="{FF2B5EF4-FFF2-40B4-BE49-F238E27FC236}">
                <a16:creationId xmlns:a16="http://schemas.microsoft.com/office/drawing/2014/main" id="{1F6D2A75-F17B-D3A3-F615-9F30AC4F5AC2}"/>
              </a:ext>
            </a:extLst>
          </p:cNvPr>
          <p:cNvSpPr/>
          <p:nvPr/>
        </p:nvSpPr>
        <p:spPr>
          <a:xfrm>
            <a:off x="810320" y="1657461"/>
            <a:ext cx="728528" cy="4993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No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" name="正方形/長方形 66">
            <a:extLst>
              <a:ext uri="{FF2B5EF4-FFF2-40B4-BE49-F238E27FC236}">
                <a16:creationId xmlns:a16="http://schemas.microsoft.com/office/drawing/2014/main" id="{3A437F0F-A33E-9984-E601-885348120B95}"/>
              </a:ext>
            </a:extLst>
          </p:cNvPr>
          <p:cNvSpPr/>
          <p:nvPr/>
        </p:nvSpPr>
        <p:spPr>
          <a:xfrm>
            <a:off x="810319" y="2580537"/>
            <a:ext cx="728527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9" name="正方形/長方形 66">
            <a:extLst>
              <a:ext uri="{FF2B5EF4-FFF2-40B4-BE49-F238E27FC236}">
                <a16:creationId xmlns:a16="http://schemas.microsoft.com/office/drawing/2014/main" id="{A8CE4E7E-376F-A3CD-46D6-90CC335A233F}"/>
              </a:ext>
            </a:extLst>
          </p:cNvPr>
          <p:cNvSpPr/>
          <p:nvPr/>
        </p:nvSpPr>
        <p:spPr>
          <a:xfrm>
            <a:off x="810319" y="3006609"/>
            <a:ext cx="728527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3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0" name="正方形/長方形 66">
            <a:extLst>
              <a:ext uri="{FF2B5EF4-FFF2-40B4-BE49-F238E27FC236}">
                <a16:creationId xmlns:a16="http://schemas.microsoft.com/office/drawing/2014/main" id="{F476D41C-30FB-B705-3626-5CBB93680E25}"/>
              </a:ext>
            </a:extLst>
          </p:cNvPr>
          <p:cNvSpPr/>
          <p:nvPr/>
        </p:nvSpPr>
        <p:spPr>
          <a:xfrm>
            <a:off x="810319" y="3429972"/>
            <a:ext cx="728527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4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3" name="正方形/長方形 66">
            <a:extLst>
              <a:ext uri="{FF2B5EF4-FFF2-40B4-BE49-F238E27FC236}">
                <a16:creationId xmlns:a16="http://schemas.microsoft.com/office/drawing/2014/main" id="{578CA753-E2A0-913D-C7DF-4683F8A4A8BB}"/>
              </a:ext>
            </a:extLst>
          </p:cNvPr>
          <p:cNvSpPr/>
          <p:nvPr/>
        </p:nvSpPr>
        <p:spPr>
          <a:xfrm>
            <a:off x="810315" y="3846105"/>
            <a:ext cx="728527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5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4" name="正方形/長方形 66">
            <a:extLst>
              <a:ext uri="{FF2B5EF4-FFF2-40B4-BE49-F238E27FC236}">
                <a16:creationId xmlns:a16="http://schemas.microsoft.com/office/drawing/2014/main" id="{9DC4675A-671A-D8A5-2666-C6B63DED55A4}"/>
              </a:ext>
            </a:extLst>
          </p:cNvPr>
          <p:cNvSpPr/>
          <p:nvPr/>
        </p:nvSpPr>
        <p:spPr>
          <a:xfrm>
            <a:off x="810311" y="4267525"/>
            <a:ext cx="728527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6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7" name="正方形/長方形 66">
            <a:extLst>
              <a:ext uri="{FF2B5EF4-FFF2-40B4-BE49-F238E27FC236}">
                <a16:creationId xmlns:a16="http://schemas.microsoft.com/office/drawing/2014/main" id="{8C66BCA5-CFE2-FA18-F7E0-ACA7A05B55B0}"/>
              </a:ext>
            </a:extLst>
          </p:cNvPr>
          <p:cNvSpPr/>
          <p:nvPr/>
        </p:nvSpPr>
        <p:spPr>
          <a:xfrm>
            <a:off x="810307" y="4675662"/>
            <a:ext cx="728527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7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18" name="正方形/長方形 66">
            <a:extLst>
              <a:ext uri="{FF2B5EF4-FFF2-40B4-BE49-F238E27FC236}">
                <a16:creationId xmlns:a16="http://schemas.microsoft.com/office/drawing/2014/main" id="{7013F8D0-29E1-4944-FC42-AEDFA594AF56}"/>
              </a:ext>
            </a:extLst>
          </p:cNvPr>
          <p:cNvSpPr/>
          <p:nvPr/>
        </p:nvSpPr>
        <p:spPr>
          <a:xfrm>
            <a:off x="810303" y="5097082"/>
            <a:ext cx="728527" cy="4237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8</a:t>
            </a:r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76665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kumimoji="1" sz="1200">
            <a:latin typeface="Meiryo UI" panose="020B0604030504040204" pitchFamily="34" charset="-128"/>
            <a:ea typeface="Meiryo UI" panose="020B0604030504040204" pitchFamily="34" charset="-128"/>
          </a:defRPr>
        </a:defPPr>
      </a:lstStyle>
      <a:style>
        <a:lnRef idx="2">
          <a:schemeClr val="accent1"/>
        </a:lnRef>
        <a:fillRef idx="1">
          <a:schemeClr val="lt1"/>
        </a:fillRef>
        <a:effectRef idx="0">
          <a:schemeClr val="accent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5076</TotalTime>
  <Words>751</Words>
  <Application>Microsoft Macintosh PowerPoint</Application>
  <PresentationFormat>宽屏</PresentationFormat>
  <Paragraphs>70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Meiryo UI</vt:lpstr>
      <vt:lpstr>游ゴシック</vt:lpstr>
      <vt:lpstr>Arial</vt:lpstr>
      <vt:lpstr>Office テーマ</vt:lpstr>
      <vt:lpstr>AIによるPM・開発業務支援PoC実施 （1次ゴール）</vt:lpstr>
      <vt:lpstr>プロジェクト概要</vt:lpstr>
      <vt:lpstr>プロジェクトのスコープ</vt:lpstr>
      <vt:lpstr>成果物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玉木栄三郎</dc:creator>
  <cp:lastModifiedBy>芸翼雄 王</cp:lastModifiedBy>
  <cp:revision>2295</cp:revision>
  <dcterms:created xsi:type="dcterms:W3CDTF">2019-04-02T02:14:09Z</dcterms:created>
  <dcterms:modified xsi:type="dcterms:W3CDTF">2025-11-12T06:52:26Z</dcterms:modified>
</cp:coreProperties>
</file>