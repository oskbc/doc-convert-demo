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6"/>
  </p:notesMasterIdLst>
  <p:handoutMasterIdLst>
    <p:handoutMasterId r:id="rId7"/>
  </p:handoutMasterIdLst>
  <p:sldIdLst>
    <p:sldId id="256" r:id="rId2"/>
    <p:sldId id="276" r:id="rId3"/>
    <p:sldId id="278" r:id="rId4"/>
    <p:sldId id="279" r:id="rId5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95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68"/>
    <p:restoredTop sz="96489"/>
  </p:normalViewPr>
  <p:slideViewPr>
    <p:cSldViewPr snapToGrid="0" snapToObjects="1">
      <p:cViewPr varScale="1">
        <p:scale>
          <a:sx n="129" d="100"/>
          <a:sy n="129" d="100"/>
        </p:scale>
        <p:origin x="2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29" d="100"/>
          <a:sy n="129" d="100"/>
        </p:scale>
        <p:origin x="236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1BFAA49-71B2-8310-9AFC-156B0C1456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7BD0CE-BD12-0FEE-C264-DCA3100F02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CEB6A-4F4B-2E44-B28E-917F66DF1442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8F26EC-C86B-8559-5F5C-01764AD91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58F222-9C7A-8EAF-4B8C-63D09AFACE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FC248-8591-A744-98A8-8F89B6F513F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03159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8645D-7094-454A-9272-DBF2E8D56680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ACA35-4236-754B-83C3-BD6D1D3ABF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127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668C-4672-9D42-BA67-D988628B8251}" type="datetime1">
              <a:rPr lang="ja-JP" altLang="en-US" smtClean="0"/>
              <a:pPr/>
              <a:t>2025/11/12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ETCO LLC.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98568280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668C-4672-9D42-BA67-D988628B8251}" type="datetime1">
              <a:rPr lang="ja-JP" altLang="en-US" smtClean="0"/>
              <a:pPr/>
              <a:t>2025/11/12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ETCO LLC.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63955060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668C-4672-9D42-BA67-D988628B8251}" type="datetime1">
              <a:rPr lang="ja-JP" altLang="en-US" smtClean="0"/>
              <a:pPr/>
              <a:t>2025/11/12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ETCO LLC.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61180851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668C-4672-9D42-BA67-D988628B8251}" type="datetime1">
              <a:rPr lang="ja-JP" altLang="en-US" smtClean="0"/>
              <a:pPr/>
              <a:t>2025/11/12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ETCO LLC.</a:t>
            </a:r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3474483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668C-4672-9D42-BA67-D988628B8251}" type="datetime1">
              <a:rPr lang="ja-JP" altLang="en-US" smtClean="0"/>
              <a:pPr/>
              <a:t>2025/11/12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ETCO LLC.</a:t>
            </a:r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0145283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668C-4672-9D42-BA67-D988628B8251}" type="datetime1">
              <a:rPr lang="ja-JP" altLang="en-US" smtClean="0"/>
              <a:pPr/>
              <a:t>2025/11/12</a:t>
            </a:fld>
            <a:endParaRPr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ETCO LLC.</a:t>
            </a:r>
            <a:endParaRPr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05638587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668C-4672-9D42-BA67-D988628B8251}" type="datetime1">
              <a:rPr lang="ja-JP" altLang="en-US" smtClean="0"/>
              <a:pPr/>
              <a:t>2025/11/12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ETCO LLC.</a:t>
            </a:r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30228818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668C-4672-9D42-BA67-D988628B8251}" type="datetime1">
              <a:rPr lang="ja-JP" altLang="en-US" smtClean="0"/>
              <a:pPr/>
              <a:t>2025/11/12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ETCO LLC.</a:t>
            </a:r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51337876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1EC3668C-4672-9D42-BA67-D988628B8251}" type="datetime1">
              <a:rPr lang="ja-JP" altLang="en-US" smtClean="0"/>
              <a:pPr/>
              <a:t>2025/11/12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r>
              <a:rPr lang="en" altLang="ja-JP"/>
              <a:t>ETCO LLC.</a:t>
            </a:r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00502952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668C-4672-9D42-BA67-D988628B8251}" type="datetime1">
              <a:rPr lang="ja-JP" altLang="en-US" smtClean="0"/>
              <a:pPr/>
              <a:t>2025/11/12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ETCO LLC.</a:t>
            </a:r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1289961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668C-4672-9D42-BA67-D988628B8251}" type="datetime1">
              <a:rPr lang="ja-JP" altLang="en-US" smtClean="0"/>
              <a:pPr/>
              <a:t>2025/11/12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ETCO LLC.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523047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668C-4672-9D42-BA67-D988628B8251}" type="datetime1">
              <a:rPr lang="ja-JP" altLang="en-US" smtClean="0"/>
              <a:pPr/>
              <a:t>2025/11/12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ETCO LLC.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19795303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668C-4672-9D42-BA67-D988628B8251}" type="datetime1">
              <a:rPr lang="ja-JP" altLang="en-US" smtClean="0"/>
              <a:pPr/>
              <a:t>2025/11/12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ETCO LLC.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71735438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668C-4672-9D42-BA67-D988628B8251}" type="datetime1">
              <a:rPr lang="ja-JP" altLang="en-US" smtClean="0"/>
              <a:pPr/>
              <a:t>2025/11/12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ETCO LLC.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68135692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668C-4672-9D42-BA67-D988628B8251}" type="datetime1">
              <a:rPr lang="ja-JP" altLang="en-US" smtClean="0"/>
              <a:pPr/>
              <a:t>2025/11/12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ETCO LLC.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879374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668C-4672-9D42-BA67-D988628B8251}" type="datetime1">
              <a:rPr lang="ja-JP" altLang="en-US" smtClean="0"/>
              <a:pPr/>
              <a:t>2025/11/12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ETCO LLC.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21704173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3668C-4672-9D42-BA67-D988628B8251}" type="datetime1">
              <a:rPr lang="ja-JP" altLang="en-US" smtClean="0"/>
              <a:pPr/>
              <a:t>2025/11/12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 altLang="ja-JP"/>
              <a:t>ETCO LLC.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4183132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EC3668C-4672-9D42-BA67-D988628B8251}" type="datetime1">
              <a:rPr lang="ja-JP" altLang="en-US" smtClean="0"/>
              <a:pPr/>
              <a:t>2025/11/12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en" altLang="ja-JP"/>
              <a:t>ETCO LLC.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62052E6-07CA-9B46-B866-FDE18BF74505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105187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AED40B-1B23-6948-89B3-220CD171B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08386"/>
            <a:ext cx="10515598" cy="1393357"/>
          </a:xfrm>
        </p:spPr>
        <p:txBody>
          <a:bodyPr>
            <a:normAutofit/>
          </a:bodyPr>
          <a:lstStyle/>
          <a:p>
            <a:r>
              <a:rPr lang="en-US" altLang="ja-JP" sz="3600" dirty="0"/>
              <a:t>AI</a:t>
            </a:r>
            <a:r>
              <a:rPr lang="ja-JP" altLang="en-US" sz="3600"/>
              <a:t>による</a:t>
            </a:r>
            <a:r>
              <a:rPr lang="en-US" altLang="ja-JP" sz="3600" dirty="0"/>
              <a:t>PM</a:t>
            </a:r>
            <a:r>
              <a:rPr lang="ja-JP" altLang="en-US" sz="3600"/>
              <a:t>・開発業務支援</a:t>
            </a:r>
            <a:r>
              <a:rPr lang="en-US" altLang="ja-JP" sz="3600" dirty="0"/>
              <a:t>PoC</a:t>
            </a:r>
            <a:r>
              <a:rPr lang="ja-JP" altLang="en-US" sz="3600"/>
              <a:t>実施</a:t>
            </a:r>
            <a:br>
              <a:rPr lang="en-US" altLang="ja-JP" sz="3600" dirty="0"/>
            </a:br>
            <a:r>
              <a:rPr lang="ja-JP" altLang="en-US" sz="360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次ゴール</a:t>
            </a:r>
            <a:r>
              <a:rPr lang="ja-JP" altLang="en-US" sz="3600"/>
              <a:t>）</a:t>
            </a:r>
            <a:endParaRPr kumimoji="1" lang="ja-JP" altLang="en-US" sz="360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AE313A0-35E2-4F4C-BEDF-EC60074526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2025</a:t>
            </a:r>
            <a:r>
              <a:rPr kumimoji="1" lang="ja-JP" altLang="en-US"/>
              <a:t>年</a:t>
            </a:r>
            <a:r>
              <a:rPr kumimoji="1" lang="en-US" altLang="ja-JP" dirty="0"/>
              <a:t>7</a:t>
            </a:r>
            <a:r>
              <a:rPr kumimoji="1" lang="ja-JP" altLang="en-US"/>
              <a:t>月</a:t>
            </a:r>
            <a:r>
              <a:rPr lang="en-US" altLang="ja-JP" dirty="0"/>
              <a:t>7</a:t>
            </a:r>
            <a:r>
              <a:rPr kumimoji="1" lang="ja-JP" altLang="en-US"/>
              <a:t>日版</a:t>
            </a:r>
            <a:endParaRPr kumimoji="1" lang="en-US" altLang="ja-JP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320734-38FF-144E-9A60-72316A413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" altLang="ja-JP"/>
              <a:t>ETCO LLC.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B3D9C38-E1BA-D14B-B9C5-31A6CE1F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7803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AC77D-3086-5F76-740D-DACC16449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6BD1BC-10F5-7815-6298-A34ED6757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プロジェクト</a:t>
            </a:r>
            <a:r>
              <a:rPr lang="zh-CN" altLang="en-US" dirty="0"/>
              <a:t>概要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296852-B22A-DA47-3EEE-8FF1E16A1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ja-JP" altLang="en-US" sz="2000"/>
              <a:t>プロジェクトの背景</a:t>
            </a:r>
            <a:endParaRPr lang="en-US" altLang="ja-JP" sz="2000" dirty="0"/>
          </a:p>
          <a:p>
            <a:pPr lvl="1">
              <a:lnSpc>
                <a:spcPct val="100000"/>
              </a:lnSpc>
            </a:pPr>
            <a:r>
              <a:rPr lang="ja-JP" altLang="en-US" sz="1600"/>
              <a:t>玉木事務所、</a:t>
            </a:r>
            <a:r>
              <a:rPr lang="zh-CN" altLang="en-US" sz="1600" dirty="0"/>
              <a:t>および</a:t>
            </a:r>
            <a:r>
              <a:rPr lang="ja-JP" altLang="en-US" sz="1600"/>
              <a:t> </a:t>
            </a:r>
            <a:r>
              <a:rPr lang="es-419" altLang="ja-JP" sz="1600" dirty="0"/>
              <a:t>bluecode </a:t>
            </a:r>
            <a:r>
              <a:rPr lang="ja-JP" altLang="en-US" sz="1600"/>
              <a:t>は、</a:t>
            </a:r>
            <a:r>
              <a:rPr lang="es-419" altLang="ja-JP" sz="1600" dirty="0">
                <a:solidFill>
                  <a:srgbClr val="FF0000"/>
                </a:solidFill>
              </a:rPr>
              <a:t>AI</a:t>
            </a:r>
            <a:r>
              <a:rPr lang="ja-JP" altLang="en-US" sz="1600">
                <a:solidFill>
                  <a:srgbClr val="FF0000"/>
                </a:solidFill>
              </a:rPr>
              <a:t>を活用</a:t>
            </a:r>
            <a:r>
              <a:rPr lang="ja-JP" altLang="en-US" sz="1600"/>
              <a:t>して</a:t>
            </a:r>
            <a:r>
              <a:rPr lang="ja-JP" altLang="en-US" sz="1600">
                <a:solidFill>
                  <a:srgbClr val="FF0000"/>
                </a:solidFill>
              </a:rPr>
              <a:t>業務効率を高め</a:t>
            </a:r>
            <a:r>
              <a:rPr lang="ja-JP" altLang="en-US" sz="1600"/>
              <a:t>、</a:t>
            </a:r>
            <a:r>
              <a:rPr lang="ja-JP" altLang="en-US" sz="1600">
                <a:solidFill>
                  <a:srgbClr val="FF0000"/>
                </a:solidFill>
              </a:rPr>
              <a:t>他社との差別化</a:t>
            </a:r>
            <a:r>
              <a:rPr lang="ja-JP" altLang="en-US" sz="1600"/>
              <a:t>を図ることを目指している。</a:t>
            </a:r>
          </a:p>
          <a:p>
            <a:pPr lvl="1">
              <a:lnSpc>
                <a:spcPct val="100000"/>
              </a:lnSpc>
            </a:pPr>
            <a:r>
              <a:rPr lang="zh-CN" altLang="en-US" sz="1600" dirty="0"/>
              <a:t>現在</a:t>
            </a:r>
            <a:r>
              <a:rPr lang="ja-JP" altLang="en-US" sz="1600"/>
              <a:t>の</a:t>
            </a:r>
            <a:r>
              <a:rPr lang="es-419" altLang="zh-CN" sz="1600" dirty="0"/>
              <a:t>AI</a:t>
            </a:r>
            <a:r>
              <a:rPr lang="zh-CN" altLang="en-US" sz="1600" dirty="0"/>
              <a:t>活用</a:t>
            </a:r>
            <a:r>
              <a:rPr lang="ja-JP" altLang="en-US" sz="1600"/>
              <a:t>は</a:t>
            </a:r>
            <a:r>
              <a:rPr lang="zh-CN" altLang="en-US" sz="1600" dirty="0"/>
              <a:t>仕様</a:t>
            </a:r>
            <a:r>
              <a:rPr lang="ja-JP" altLang="en-US" sz="1600"/>
              <a:t>の</a:t>
            </a:r>
            <a:r>
              <a:rPr lang="zh-CN" altLang="en-US" sz="1600" dirty="0"/>
              <a:t>自由度</a:t>
            </a:r>
            <a:r>
              <a:rPr lang="ja-JP" altLang="en-US" sz="1600"/>
              <a:t>が</a:t>
            </a:r>
            <a:r>
              <a:rPr lang="zh-CN" altLang="en-US" sz="1600" dirty="0"/>
              <a:t>高</a:t>
            </a:r>
            <a:r>
              <a:rPr lang="ja-JP" altLang="en-US" sz="1600"/>
              <a:t>い</a:t>
            </a:r>
            <a:r>
              <a:rPr lang="zh-CN" altLang="en-US" sz="1600" dirty="0"/>
              <a:t>分野</a:t>
            </a:r>
            <a:r>
              <a:rPr lang="ja-JP" altLang="en-US" sz="1600"/>
              <a:t>に</a:t>
            </a:r>
            <a:r>
              <a:rPr lang="zh-CN" altLang="en-US" sz="1600" dirty="0"/>
              <a:t>偏</a:t>
            </a:r>
            <a:r>
              <a:rPr lang="ja-JP" altLang="en-US" sz="1600"/>
              <a:t>り、より</a:t>
            </a:r>
            <a:r>
              <a:rPr lang="zh-CN" altLang="en-US" sz="1600" dirty="0"/>
              <a:t>構造化</a:t>
            </a:r>
            <a:r>
              <a:rPr lang="ja-JP" altLang="en-US" sz="1600"/>
              <a:t>された</a:t>
            </a:r>
            <a:r>
              <a:rPr lang="zh-CN" altLang="en-US" sz="1600" dirty="0"/>
              <a:t>業務領域</a:t>
            </a:r>
            <a:r>
              <a:rPr lang="ja-JP" altLang="en-US" sz="1600"/>
              <a:t>への</a:t>
            </a:r>
            <a:r>
              <a:rPr lang="zh-CN" altLang="en-US" sz="1600" dirty="0"/>
              <a:t>実践的適用</a:t>
            </a:r>
            <a:r>
              <a:rPr lang="ja-JP" altLang="en-US" sz="1600"/>
              <a:t>が</a:t>
            </a:r>
            <a:r>
              <a:rPr lang="zh-CN" altLang="en-US" sz="1600" dirty="0"/>
              <a:t>課題</a:t>
            </a:r>
            <a:r>
              <a:rPr lang="ja-JP" altLang="en-US" sz="1600"/>
              <a:t>となっている。</a:t>
            </a:r>
          </a:p>
          <a:p>
            <a:pPr lvl="1">
              <a:lnSpc>
                <a:spcPct val="100000"/>
              </a:lnSpc>
            </a:pPr>
            <a:r>
              <a:rPr lang="zh-CN" altLang="en-US" sz="1600" dirty="0"/>
              <a:t>本</a:t>
            </a:r>
            <a:r>
              <a:rPr lang="es-419" altLang="zh-CN" sz="1600" dirty="0"/>
              <a:t>PoC</a:t>
            </a:r>
            <a:r>
              <a:rPr lang="ja-JP" altLang="en-US" sz="1600"/>
              <a:t>では、</a:t>
            </a:r>
            <a:r>
              <a:rPr lang="es-419" altLang="zh-CN" sz="1600" dirty="0">
                <a:solidFill>
                  <a:srgbClr val="FF0000"/>
                </a:solidFill>
              </a:rPr>
              <a:t>PM</a:t>
            </a:r>
            <a:r>
              <a:rPr lang="zh-CN" altLang="es-419" sz="1600" dirty="0">
                <a:solidFill>
                  <a:srgbClr val="FF0000"/>
                </a:solidFill>
              </a:rPr>
              <a:t>・</a:t>
            </a:r>
            <a:r>
              <a:rPr lang="zh-CN" altLang="en-US" sz="1600" dirty="0">
                <a:solidFill>
                  <a:srgbClr val="FF0000"/>
                </a:solidFill>
              </a:rPr>
              <a:t>開発業務支援</a:t>
            </a:r>
            <a:r>
              <a:rPr lang="ja-JP" altLang="en-US" sz="1600"/>
              <a:t>の</a:t>
            </a:r>
            <a:r>
              <a:rPr lang="zh-CN" altLang="en-US" sz="1600" dirty="0"/>
              <a:t>観点</a:t>
            </a:r>
            <a:r>
              <a:rPr lang="ja-JP" altLang="en-US" sz="1600"/>
              <a:t>から「</a:t>
            </a:r>
            <a:r>
              <a:rPr lang="ja-JP" altLang="en-US" sz="1600">
                <a:solidFill>
                  <a:srgbClr val="FF0000"/>
                </a:solidFill>
              </a:rPr>
              <a:t>ドキュメント</a:t>
            </a:r>
            <a:r>
              <a:rPr lang="zh-CN" altLang="en-US" sz="1600" dirty="0">
                <a:solidFill>
                  <a:srgbClr val="FF0000"/>
                </a:solidFill>
              </a:rPr>
              <a:t>自動生成</a:t>
            </a:r>
            <a:r>
              <a:rPr lang="zh-CN" altLang="en-US" sz="1600" dirty="0"/>
              <a:t>」</a:t>
            </a:r>
            <a:r>
              <a:rPr lang="ja-JP" altLang="en-US" sz="1600"/>
              <a:t>に</a:t>
            </a:r>
            <a:r>
              <a:rPr lang="zh-CN" altLang="en-US" sz="1600" dirty="0"/>
              <a:t>焦点</a:t>
            </a:r>
            <a:r>
              <a:rPr lang="ja-JP" altLang="en-US" sz="1600"/>
              <a:t>を</a:t>
            </a:r>
            <a:r>
              <a:rPr lang="zh-CN" altLang="en-US" sz="1600" dirty="0"/>
              <a:t>当</a:t>
            </a:r>
            <a:r>
              <a:rPr lang="ja-JP" altLang="en-US" sz="1600"/>
              <a:t>て、</a:t>
            </a:r>
            <a:r>
              <a:rPr lang="es-419" altLang="zh-CN" sz="1600" dirty="0"/>
              <a:t>AI </a:t>
            </a:r>
            <a:r>
              <a:rPr lang="zh-CN" altLang="en-US" sz="1600" dirty="0"/>
              <a:t>活用</a:t>
            </a:r>
            <a:r>
              <a:rPr lang="ja-JP" altLang="en-US" sz="1600"/>
              <a:t>の</a:t>
            </a:r>
            <a:r>
              <a:rPr lang="zh-CN" altLang="en-US" sz="1600" dirty="0">
                <a:solidFill>
                  <a:srgbClr val="FF0000"/>
                </a:solidFill>
              </a:rPr>
              <a:t>有効性</a:t>
            </a:r>
            <a:r>
              <a:rPr lang="ja-JP" altLang="en-US" sz="1600"/>
              <a:t>と</a:t>
            </a:r>
            <a:r>
              <a:rPr lang="zh-CN" altLang="en-US" sz="1600" dirty="0">
                <a:solidFill>
                  <a:srgbClr val="FF0000"/>
                </a:solidFill>
              </a:rPr>
              <a:t>省力化</a:t>
            </a:r>
            <a:r>
              <a:rPr lang="ja-JP" altLang="en-US" sz="1600"/>
              <a:t>の</a:t>
            </a:r>
            <a:r>
              <a:rPr lang="zh-CN" altLang="en-US" sz="1600" dirty="0"/>
              <a:t>可能性</a:t>
            </a:r>
            <a:r>
              <a:rPr lang="ja-JP" altLang="en-US" sz="1600"/>
              <a:t>を</a:t>
            </a:r>
            <a:r>
              <a:rPr lang="zh-CN" altLang="en-US" sz="1600" dirty="0"/>
              <a:t>実証的</a:t>
            </a:r>
            <a:r>
              <a:rPr lang="ja-JP" altLang="en-US" sz="1600"/>
              <a:t>に</a:t>
            </a:r>
            <a:r>
              <a:rPr lang="zh-CN" altLang="en-US" sz="1600" dirty="0"/>
              <a:t>検証</a:t>
            </a:r>
            <a:r>
              <a:rPr lang="ja-JP" altLang="en-US" sz="1600"/>
              <a:t>する。</a:t>
            </a:r>
            <a:endParaRPr lang="en-US" altLang="ja-JP" sz="1600" dirty="0"/>
          </a:p>
          <a:p>
            <a:pPr lvl="1">
              <a:lnSpc>
                <a:spcPct val="100000"/>
              </a:lnSpc>
            </a:pPr>
            <a:endParaRPr lang="ja-JP" altLang="en-US" sz="1400"/>
          </a:p>
          <a:p>
            <a:pPr>
              <a:lnSpc>
                <a:spcPct val="100000"/>
              </a:lnSpc>
            </a:pPr>
            <a:r>
              <a:rPr lang="zh-CN" altLang="en-US" sz="2000" dirty="0"/>
              <a:t>目的</a:t>
            </a:r>
            <a:r>
              <a:rPr lang="ja-JP" altLang="en-US" sz="2000"/>
              <a:t>とゴール</a:t>
            </a:r>
            <a:endParaRPr lang="en-US" altLang="ja-JP" sz="2000" dirty="0"/>
          </a:p>
          <a:p>
            <a:pPr lvl="1">
              <a:lnSpc>
                <a:spcPct val="100000"/>
              </a:lnSpc>
            </a:pPr>
            <a:r>
              <a:rPr lang="zh-CN" altLang="en-US" sz="1600" dirty="0"/>
              <a:t>本</a:t>
            </a:r>
            <a:r>
              <a:rPr lang="ja-JP" altLang="en-US" sz="1600"/>
              <a:t>プロジェクトの</a:t>
            </a:r>
            <a:r>
              <a:rPr lang="zh-CN" altLang="en-US" sz="1600" dirty="0"/>
              <a:t>直接目的</a:t>
            </a:r>
            <a:r>
              <a:rPr lang="ja-JP" altLang="en-US" sz="1600"/>
              <a:t>は、</a:t>
            </a:r>
            <a:r>
              <a:rPr lang="zh-CN" altLang="en-US" sz="1600" dirty="0"/>
              <a:t>以下</a:t>
            </a:r>
            <a:r>
              <a:rPr lang="ja-JP" altLang="en-US" sz="1600"/>
              <a:t>の</a:t>
            </a:r>
            <a:r>
              <a:rPr lang="en-US" altLang="ja-JP" sz="1600" b="1" dirty="0"/>
              <a:t>1</a:t>
            </a:r>
            <a:r>
              <a:rPr lang="zh-CN" altLang="en-US" sz="1600" b="1" dirty="0"/>
              <a:t>次</a:t>
            </a:r>
            <a:r>
              <a:rPr lang="ja-JP" altLang="en-US" sz="1600" b="1"/>
              <a:t>ゴール</a:t>
            </a:r>
            <a:r>
              <a:rPr lang="ja-JP" altLang="en-US" sz="1600"/>
              <a:t>を</a:t>
            </a:r>
            <a:r>
              <a:rPr lang="zh-CN" altLang="en-US" sz="1600" dirty="0"/>
              <a:t>達成</a:t>
            </a:r>
            <a:r>
              <a:rPr lang="ja-JP" altLang="en-US" sz="1600"/>
              <a:t>することにある。 </a:t>
            </a:r>
            <a:endParaRPr lang="en-US" altLang="ja-JP" sz="1600" dirty="0"/>
          </a:p>
          <a:p>
            <a:pPr lvl="1">
              <a:lnSpc>
                <a:spcPct val="100000"/>
              </a:lnSpc>
            </a:pPr>
            <a:r>
              <a:rPr lang="en-US" altLang="ja-JP" sz="1600" dirty="0"/>
              <a:t>1</a:t>
            </a:r>
            <a:r>
              <a:rPr lang="zh-CN" altLang="en-US" sz="1600" dirty="0"/>
              <a:t>次</a:t>
            </a:r>
            <a:r>
              <a:rPr lang="ja-JP" altLang="en-US" sz="1600"/>
              <a:t>ゴール：</a:t>
            </a:r>
            <a:r>
              <a:rPr lang="zh-CN" altLang="en-US" sz="1600" dirty="0"/>
              <a:t>開発</a:t>
            </a:r>
            <a:r>
              <a:rPr lang="ja-JP" altLang="en-US" sz="1600"/>
              <a:t>ドキュメントの</a:t>
            </a:r>
            <a:r>
              <a:rPr lang="zh-CN" altLang="en-US" sz="1600" dirty="0"/>
              <a:t>自動生成 </a:t>
            </a:r>
            <a:endParaRPr lang="en-US" altLang="zh-CN" sz="1600" dirty="0"/>
          </a:p>
          <a:p>
            <a:pPr lvl="2">
              <a:lnSpc>
                <a:spcPct val="100000"/>
              </a:lnSpc>
            </a:pPr>
            <a:r>
              <a:rPr lang="zh-CN" altLang="en-US" sz="1400" dirty="0"/>
              <a:t>開発</a:t>
            </a:r>
            <a:r>
              <a:rPr lang="ja-JP" altLang="en-US" sz="1400"/>
              <a:t>プロジェクトに</a:t>
            </a:r>
            <a:r>
              <a:rPr lang="zh-CN" altLang="en-US" sz="1400" dirty="0"/>
              <a:t>必要</a:t>
            </a:r>
            <a:r>
              <a:rPr lang="ja-JP" altLang="en-US" sz="1400"/>
              <a:t>な</a:t>
            </a:r>
            <a:r>
              <a:rPr lang="zh-CN" altLang="en-US" sz="1400" dirty="0">
                <a:solidFill>
                  <a:srgbClr val="FF0000"/>
                </a:solidFill>
              </a:rPr>
              <a:t>各種</a:t>
            </a:r>
            <a:r>
              <a:rPr lang="ja-JP" altLang="en-US" sz="1400">
                <a:solidFill>
                  <a:srgbClr val="FF0000"/>
                </a:solidFill>
              </a:rPr>
              <a:t>ドキュメント</a:t>
            </a:r>
            <a:r>
              <a:rPr lang="ja-JP" altLang="en-US" sz="1400"/>
              <a:t>を </a:t>
            </a:r>
            <a:r>
              <a:rPr lang="es-419" altLang="zh-CN" sz="1400" dirty="0"/>
              <a:t>AI </a:t>
            </a:r>
            <a:r>
              <a:rPr lang="ja-JP" altLang="en-US" sz="1400"/>
              <a:t>により</a:t>
            </a:r>
            <a:r>
              <a:rPr lang="zh-CN" altLang="en-US" sz="1400" dirty="0"/>
              <a:t>自動生成</a:t>
            </a:r>
            <a:r>
              <a:rPr lang="ja-JP" altLang="en-US" sz="1400"/>
              <a:t>する</a:t>
            </a:r>
            <a:r>
              <a:rPr lang="zh-CN" altLang="en-US" sz="1400" dirty="0"/>
              <a:t>技術</a:t>
            </a:r>
            <a:r>
              <a:rPr lang="ja-JP" altLang="en-US" sz="1400"/>
              <a:t>を</a:t>
            </a:r>
            <a:r>
              <a:rPr lang="zh-CN" altLang="en-US" sz="1400" dirty="0"/>
              <a:t>確立</a:t>
            </a:r>
            <a:r>
              <a:rPr lang="ja-JP" altLang="en-US" sz="1400"/>
              <a:t>し、</a:t>
            </a:r>
            <a:r>
              <a:rPr lang="zh-CN" altLang="en-US" sz="1400" dirty="0"/>
              <a:t>省力化</a:t>
            </a:r>
            <a:r>
              <a:rPr lang="ja-JP" altLang="en-US" sz="1400"/>
              <a:t>を</a:t>
            </a:r>
            <a:r>
              <a:rPr lang="zh-CN" altLang="en-US" sz="1400" dirty="0"/>
              <a:t>実現</a:t>
            </a:r>
            <a:r>
              <a:rPr lang="ja-JP" altLang="en-US" sz="1400"/>
              <a:t>する。 </a:t>
            </a:r>
            <a:endParaRPr lang="en-US" altLang="ja-JP" sz="1400" dirty="0"/>
          </a:p>
          <a:p>
            <a:pPr lvl="2">
              <a:lnSpc>
                <a:spcPct val="100000"/>
              </a:lnSpc>
            </a:pPr>
            <a:r>
              <a:rPr lang="ja-JP" altLang="en-US" sz="1400"/>
              <a:t>プロジェクト</a:t>
            </a:r>
            <a:r>
              <a:rPr lang="zh-CN" altLang="en-US" sz="1400" dirty="0"/>
              <a:t>規模（</a:t>
            </a:r>
            <a:r>
              <a:rPr lang="zh-CN" altLang="en-US" sz="1400" dirty="0">
                <a:solidFill>
                  <a:srgbClr val="FF0000"/>
                </a:solidFill>
              </a:rPr>
              <a:t>小規模</a:t>
            </a:r>
            <a:r>
              <a:rPr lang="zh-CN" altLang="en-US" sz="1400" dirty="0"/>
              <a:t>・</a:t>
            </a:r>
            <a:r>
              <a:rPr lang="zh-CN" altLang="en-US" sz="1400" dirty="0">
                <a:solidFill>
                  <a:srgbClr val="FF0000"/>
                </a:solidFill>
              </a:rPr>
              <a:t>中規模</a:t>
            </a:r>
            <a:r>
              <a:rPr lang="zh-CN" altLang="en-US" sz="1400" dirty="0"/>
              <a:t>・</a:t>
            </a:r>
            <a:r>
              <a:rPr lang="zh-CN" altLang="en-US" sz="1400" dirty="0">
                <a:solidFill>
                  <a:srgbClr val="FF0000"/>
                </a:solidFill>
              </a:rPr>
              <a:t>大規模</a:t>
            </a:r>
            <a:r>
              <a:rPr lang="zh-CN" altLang="en-US" sz="1400" dirty="0"/>
              <a:t>）</a:t>
            </a:r>
            <a:r>
              <a:rPr lang="ja-JP" altLang="en-US" sz="1400"/>
              <a:t>に</a:t>
            </a:r>
            <a:r>
              <a:rPr lang="zh-CN" altLang="en-US" sz="1400" dirty="0"/>
              <a:t>応</a:t>
            </a:r>
            <a:r>
              <a:rPr lang="ja-JP" altLang="en-US" sz="1400"/>
              <a:t>じたドキュメントを</a:t>
            </a:r>
            <a:r>
              <a:rPr lang="zh-CN" altLang="en-US" sz="1400" dirty="0"/>
              <a:t>生成可能</a:t>
            </a:r>
            <a:r>
              <a:rPr lang="ja-JP" altLang="en-US" sz="1400"/>
              <a:t>とする。 </a:t>
            </a:r>
            <a:endParaRPr lang="en-US" altLang="ja-JP" sz="1400" dirty="0"/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ja-JP" sz="1400" dirty="0"/>
              <a:t>※ 1</a:t>
            </a:r>
            <a:r>
              <a:rPr lang="zh-CN" altLang="en-US" sz="1400" dirty="0"/>
              <a:t>次</a:t>
            </a:r>
            <a:r>
              <a:rPr lang="ja-JP" altLang="en-US" sz="1400"/>
              <a:t>ゴールの</a:t>
            </a:r>
            <a:r>
              <a:rPr lang="zh-CN" altLang="en-US" sz="1400" dirty="0"/>
              <a:t>達成</a:t>
            </a:r>
            <a:r>
              <a:rPr lang="ja-JP" altLang="en-US" sz="1400"/>
              <a:t>は、</a:t>
            </a:r>
            <a:r>
              <a:rPr lang="en-US" altLang="ja-JP" sz="1400" dirty="0"/>
              <a:t> 2</a:t>
            </a:r>
            <a:r>
              <a:rPr lang="ja-JP" altLang="en-US" sz="1400"/>
              <a:t>次以降のゴール実現の</a:t>
            </a:r>
            <a:r>
              <a:rPr lang="zh-CN" altLang="en-US" sz="1400" dirty="0"/>
              <a:t>ための</a:t>
            </a:r>
            <a:r>
              <a:rPr lang="ja-JP" altLang="en-US" sz="1400">
                <a:solidFill>
                  <a:srgbClr val="FF0000"/>
                </a:solidFill>
              </a:rPr>
              <a:t>前提条件</a:t>
            </a:r>
            <a:r>
              <a:rPr lang="ja-JP" altLang="en-US" sz="1400"/>
              <a:t>となる。 </a:t>
            </a:r>
            <a:endParaRPr lang="en-US" altLang="ja-JP" sz="1400" dirty="0"/>
          </a:p>
          <a:p>
            <a:pPr lvl="2">
              <a:lnSpc>
                <a:spcPct val="100000"/>
              </a:lnSpc>
            </a:pPr>
            <a:endParaRPr lang="ja-JP" altLang="en-US" sz="1400"/>
          </a:p>
          <a:p>
            <a:pPr lvl="1">
              <a:lnSpc>
                <a:spcPct val="100000"/>
              </a:lnSpc>
            </a:pPr>
            <a:r>
              <a:rPr lang="en-US" altLang="ja-JP" sz="1800" dirty="0"/>
              <a:t>2</a:t>
            </a:r>
            <a:r>
              <a:rPr lang="zh-CN" altLang="en-US" sz="1800" dirty="0"/>
              <a:t>次</a:t>
            </a:r>
            <a:r>
              <a:rPr lang="ja-JP" altLang="en-US" sz="1800"/>
              <a:t>ゴール：コード・テストの</a:t>
            </a:r>
            <a:r>
              <a:rPr lang="zh-CN" altLang="en-US" sz="1800" dirty="0"/>
              <a:t>自動生成</a:t>
            </a:r>
          </a:p>
          <a:p>
            <a:pPr lvl="2">
              <a:lnSpc>
                <a:spcPct val="100000"/>
              </a:lnSpc>
            </a:pPr>
            <a:r>
              <a:rPr lang="zh-CN" altLang="en-US" sz="1600" dirty="0"/>
              <a:t>本</a:t>
            </a:r>
            <a:r>
              <a:rPr lang="es-419" altLang="zh-CN" sz="1600" dirty="0"/>
              <a:t>PoC</a:t>
            </a:r>
            <a:r>
              <a:rPr lang="ja-JP" altLang="en-US" sz="1600"/>
              <a:t>で</a:t>
            </a:r>
            <a:r>
              <a:rPr lang="zh-CN" altLang="en-US" sz="1600" dirty="0"/>
              <a:t>生成</a:t>
            </a:r>
            <a:r>
              <a:rPr lang="ja-JP" altLang="en-US" sz="1600"/>
              <a:t>したドキュメントをもとに、プログラムコードとテストコードを</a:t>
            </a:r>
            <a:r>
              <a:rPr lang="zh-CN" altLang="en-US" sz="1600" dirty="0"/>
              <a:t>自動生成</a:t>
            </a:r>
            <a:r>
              <a:rPr lang="ja-JP" altLang="en-US" sz="1600"/>
              <a:t>する。</a:t>
            </a:r>
            <a:endParaRPr lang="en-US" altLang="ja-JP" sz="1600" dirty="0"/>
          </a:p>
          <a:p>
            <a:pPr lvl="2">
              <a:lnSpc>
                <a:spcPct val="100000"/>
              </a:lnSpc>
            </a:pPr>
            <a:endParaRPr lang="ja-JP" altLang="en-US" sz="1400"/>
          </a:p>
          <a:p>
            <a:pPr lvl="1">
              <a:lnSpc>
                <a:spcPct val="100000"/>
              </a:lnSpc>
            </a:pPr>
            <a:r>
              <a:rPr lang="en-US" altLang="ja-JP" sz="1800" dirty="0"/>
              <a:t>3</a:t>
            </a:r>
            <a:r>
              <a:rPr lang="zh-CN" altLang="en-US" sz="1800" dirty="0"/>
              <a:t>次</a:t>
            </a:r>
            <a:r>
              <a:rPr lang="ja-JP" altLang="en-US" sz="1800"/>
              <a:t>ゴール：</a:t>
            </a:r>
            <a:r>
              <a:rPr lang="es-419" altLang="zh-CN" sz="1800" dirty="0"/>
              <a:t>AI</a:t>
            </a:r>
            <a:r>
              <a:rPr lang="ja-JP" altLang="en-US" sz="1800"/>
              <a:t>を</a:t>
            </a:r>
            <a:r>
              <a:rPr lang="zh-CN" altLang="en-US" sz="1800" dirty="0"/>
              <a:t>前提</a:t>
            </a:r>
            <a:r>
              <a:rPr lang="ja-JP" altLang="en-US" sz="1800"/>
              <a:t>とした</a:t>
            </a:r>
            <a:r>
              <a:rPr lang="zh-CN" altLang="en-US" sz="1800" dirty="0"/>
              <a:t>開発</a:t>
            </a:r>
            <a:r>
              <a:rPr lang="ja-JP" altLang="en-US" sz="1800"/>
              <a:t>ワークフローの</a:t>
            </a:r>
            <a:r>
              <a:rPr lang="zh-CN" altLang="en-US" sz="1800" dirty="0"/>
              <a:t>確立</a:t>
            </a:r>
          </a:p>
          <a:p>
            <a:pPr lvl="2">
              <a:lnSpc>
                <a:spcPct val="100000"/>
              </a:lnSpc>
            </a:pPr>
            <a:r>
              <a:rPr lang="zh-CN" altLang="en-US" sz="1600" dirty="0"/>
              <a:t>当社独自</a:t>
            </a:r>
            <a:r>
              <a:rPr lang="ja-JP" altLang="en-US" sz="1600"/>
              <a:t>のノウハウを</a:t>
            </a:r>
            <a:r>
              <a:rPr lang="zh-CN" altLang="en-US" sz="1600" dirty="0"/>
              <a:t>組</a:t>
            </a:r>
            <a:r>
              <a:rPr lang="ja-JP" altLang="en-US" sz="1600"/>
              <a:t>み</a:t>
            </a:r>
            <a:r>
              <a:rPr lang="zh-CN" altLang="en-US" sz="1600" dirty="0"/>
              <a:t>込</a:t>
            </a:r>
            <a:r>
              <a:rPr lang="ja-JP" altLang="en-US" sz="1600"/>
              <a:t>んだ </a:t>
            </a:r>
            <a:r>
              <a:rPr lang="es-419" altLang="zh-CN" sz="1600" dirty="0"/>
              <a:t>AI </a:t>
            </a:r>
            <a:r>
              <a:rPr lang="zh-CN" altLang="en-US" sz="1600" dirty="0"/>
              <a:t>前提</a:t>
            </a:r>
            <a:r>
              <a:rPr lang="ja-JP" altLang="en-US" sz="1600"/>
              <a:t>の</a:t>
            </a:r>
            <a:r>
              <a:rPr lang="zh-CN" altLang="en-US" sz="1600" dirty="0"/>
              <a:t>開発</a:t>
            </a:r>
            <a:r>
              <a:rPr lang="ja-JP" altLang="en-US" sz="1600"/>
              <a:t>プロセスを</a:t>
            </a:r>
            <a:r>
              <a:rPr lang="zh-CN" altLang="en-US" sz="1600" dirty="0"/>
              <a:t>構築</a:t>
            </a:r>
            <a:r>
              <a:rPr lang="ja-JP" altLang="en-US" sz="1600"/>
              <a:t>し、</a:t>
            </a:r>
            <a:r>
              <a:rPr lang="zh-CN" altLang="en-US" sz="1600" dirty="0"/>
              <a:t>組織内</a:t>
            </a:r>
            <a:r>
              <a:rPr lang="ja-JP" altLang="en-US" sz="1600"/>
              <a:t>に</a:t>
            </a:r>
            <a:r>
              <a:rPr lang="zh-CN" altLang="en-US" sz="1600" dirty="0"/>
              <a:t>定着</a:t>
            </a:r>
            <a:r>
              <a:rPr lang="ja-JP" altLang="en-US" sz="1600"/>
              <a:t>させる。</a:t>
            </a:r>
            <a:endParaRPr lang="ja-JP" altLang="en-US" sz="180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5BFBF69-96CD-73DF-C5C4-CBE721BAD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ETCO LLC.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35AFEEC-D246-AC3A-9F50-533D151BC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99654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20BCA-5281-DBF5-D18E-10412D61D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3AA722-CC4D-EF2A-A17B-E2E00B7A1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プロジェクトのスコープ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3188C5-9D75-6D45-8F3F-D35A1E546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本</a:t>
            </a:r>
            <a:r>
              <a:rPr lang="ja-JP" altLang="en-US" sz="2000"/>
              <a:t>プロジェクトのスコープは、</a:t>
            </a:r>
            <a:r>
              <a:rPr lang="en-US" altLang="ja-JP" sz="2000" dirty="0"/>
              <a:t>1</a:t>
            </a:r>
            <a:r>
              <a:rPr lang="zh-CN" altLang="en-US" sz="2000" dirty="0"/>
              <a:t>次</a:t>
            </a:r>
            <a:r>
              <a:rPr lang="ja-JP" altLang="en-US" sz="2000"/>
              <a:t>ゴールである「</a:t>
            </a:r>
            <a:r>
              <a:rPr lang="zh-CN" altLang="en-US" sz="2000" dirty="0"/>
              <a:t>開発</a:t>
            </a:r>
            <a:r>
              <a:rPr lang="ja-JP" altLang="en-US" sz="2000"/>
              <a:t>ドキュメントの</a:t>
            </a:r>
            <a:r>
              <a:rPr lang="zh-CN" altLang="en-US" sz="2000" dirty="0"/>
              <a:t>自動生成」</a:t>
            </a:r>
            <a:r>
              <a:rPr lang="ja-JP" altLang="en-US" sz="2000"/>
              <a:t>を</a:t>
            </a:r>
            <a:r>
              <a:rPr lang="zh-CN" altLang="en-US" sz="2000" dirty="0"/>
              <a:t>達成</a:t>
            </a:r>
            <a:r>
              <a:rPr lang="ja-JP" altLang="en-US" sz="2000"/>
              <a:t>するために</a:t>
            </a:r>
            <a:r>
              <a:rPr lang="zh-CN" altLang="en-US" sz="2000" dirty="0"/>
              <a:t>必要</a:t>
            </a:r>
            <a:r>
              <a:rPr lang="ja-JP" altLang="en-US" sz="2000"/>
              <a:t>な、</a:t>
            </a:r>
            <a:r>
              <a:rPr lang="zh-CN" altLang="en-US" sz="2000" dirty="0"/>
              <a:t>以下</a:t>
            </a:r>
            <a:r>
              <a:rPr lang="ja-JP" altLang="en-US" sz="2000"/>
              <a:t>に</a:t>
            </a:r>
            <a:r>
              <a:rPr lang="zh-CN" altLang="en-US" sz="2000" dirty="0"/>
              <a:t>示</a:t>
            </a:r>
            <a:r>
              <a:rPr lang="ja-JP" altLang="en-US" sz="2000"/>
              <a:t>す</a:t>
            </a:r>
            <a:r>
              <a:rPr lang="zh-CN" altLang="en-US" sz="2000" dirty="0"/>
              <a:t>全</a:t>
            </a:r>
            <a:r>
              <a:rPr lang="ja-JP" altLang="en-US" sz="2000"/>
              <a:t>てのタスクを</a:t>
            </a:r>
            <a:r>
              <a:rPr lang="zh-CN" altLang="en-US" sz="2000" dirty="0"/>
              <a:t>対象</a:t>
            </a:r>
            <a:r>
              <a:rPr lang="ja-JP" altLang="en-US" sz="2000"/>
              <a:t>とする。</a:t>
            </a:r>
            <a:endParaRPr lang="en-US" altLang="ja-JP" sz="2000" dirty="0"/>
          </a:p>
          <a:p>
            <a:pPr lvl="1">
              <a:lnSpc>
                <a:spcPct val="100000"/>
              </a:lnSpc>
            </a:pPr>
            <a:endParaRPr lang="ja-JP" altLang="en-US" sz="1400"/>
          </a:p>
          <a:p>
            <a:pPr lvl="1">
              <a:lnSpc>
                <a:spcPct val="100000"/>
              </a:lnSpc>
            </a:pPr>
            <a:r>
              <a:rPr lang="zh-CN" altLang="en-US" sz="1600" b="1" dirty="0"/>
              <a:t>生成対象</a:t>
            </a:r>
            <a:r>
              <a:rPr lang="ja-JP" altLang="en-US" sz="1600" b="1"/>
              <a:t>ドキュメントリストの</a:t>
            </a:r>
            <a:r>
              <a:rPr lang="zh-CN" altLang="en-US" sz="1600" b="1" dirty="0"/>
              <a:t>作成</a:t>
            </a:r>
            <a:r>
              <a:rPr lang="ja-JP" altLang="en-US" sz="1600" b="1"/>
              <a:t>と</a:t>
            </a:r>
            <a:r>
              <a:rPr lang="zh-CN" altLang="en-US" sz="1600" b="1" dirty="0"/>
              <a:t>整理</a:t>
            </a:r>
            <a:r>
              <a:rPr lang="zh-CN" altLang="en-US" sz="1600" dirty="0"/>
              <a:t> </a:t>
            </a:r>
          </a:p>
          <a:p>
            <a:pPr lvl="2">
              <a:lnSpc>
                <a:spcPct val="100000"/>
              </a:lnSpc>
            </a:pPr>
            <a:r>
              <a:rPr lang="es-419" altLang="zh-CN" sz="1400" dirty="0"/>
              <a:t>AI</a:t>
            </a:r>
            <a:r>
              <a:rPr lang="ja-JP" altLang="en-US" sz="1400"/>
              <a:t>による</a:t>
            </a:r>
            <a:r>
              <a:rPr lang="zh-CN" altLang="en-US" sz="1400" dirty="0"/>
              <a:t>自動生成</a:t>
            </a:r>
            <a:r>
              <a:rPr lang="ja-JP" altLang="en-US" sz="1400"/>
              <a:t>の</a:t>
            </a:r>
            <a:r>
              <a:rPr lang="zh-CN" altLang="en-US" sz="1400" dirty="0"/>
              <a:t>対象</a:t>
            </a:r>
            <a:r>
              <a:rPr lang="ja-JP" altLang="en-US" sz="1400"/>
              <a:t>とするドキュメントを</a:t>
            </a:r>
            <a:r>
              <a:rPr lang="zh-CN" altLang="en-US" sz="1400" dirty="0"/>
              <a:t>明確化</a:t>
            </a:r>
            <a:r>
              <a:rPr lang="ja-JP" altLang="en-US" sz="1400"/>
              <a:t>する。 </a:t>
            </a:r>
          </a:p>
          <a:p>
            <a:pPr lvl="1">
              <a:lnSpc>
                <a:spcPct val="100000"/>
              </a:lnSpc>
            </a:pPr>
            <a:r>
              <a:rPr lang="zh-CN" altLang="en-US" sz="1600" b="1" dirty="0"/>
              <a:t>学習候補</a:t>
            </a:r>
            <a:r>
              <a:rPr lang="ja-JP" altLang="en-US" sz="1600" b="1"/>
              <a:t>データのリスト</a:t>
            </a:r>
            <a:r>
              <a:rPr lang="zh-CN" altLang="en-US" sz="1600" b="1" dirty="0"/>
              <a:t>作成</a:t>
            </a:r>
            <a:r>
              <a:rPr lang="ja-JP" altLang="en-US" sz="1600" b="1"/>
              <a:t>と</a:t>
            </a:r>
            <a:r>
              <a:rPr lang="zh-CN" altLang="en-US" sz="1600" b="1" dirty="0"/>
              <a:t>整理</a:t>
            </a:r>
            <a:r>
              <a:rPr lang="zh-CN" altLang="en-US" sz="1600" dirty="0"/>
              <a:t> </a:t>
            </a:r>
          </a:p>
          <a:p>
            <a:pPr lvl="2">
              <a:lnSpc>
                <a:spcPct val="100000"/>
              </a:lnSpc>
            </a:pPr>
            <a:r>
              <a:rPr lang="es-419" altLang="zh-CN" sz="1400" dirty="0"/>
              <a:t>AI</a:t>
            </a:r>
            <a:r>
              <a:rPr lang="ja-JP" altLang="en-US" sz="1400"/>
              <a:t>の</a:t>
            </a:r>
            <a:r>
              <a:rPr lang="zh-CN" altLang="en-US" sz="1400" dirty="0"/>
              <a:t>学習対象</a:t>
            </a:r>
            <a:r>
              <a:rPr lang="ja-JP" altLang="en-US" sz="1400"/>
              <a:t>とするデータや、</a:t>
            </a:r>
            <a:r>
              <a:rPr lang="zh-CN" altLang="en-US" sz="1400" dirty="0"/>
              <a:t>学習時</a:t>
            </a:r>
            <a:r>
              <a:rPr lang="ja-JP" altLang="en-US" sz="1400"/>
              <a:t>のポイントを</a:t>
            </a:r>
            <a:r>
              <a:rPr lang="zh-CN" altLang="en-US" sz="1400" dirty="0"/>
              <a:t>明確化</a:t>
            </a:r>
            <a:r>
              <a:rPr lang="ja-JP" altLang="en-US" sz="1400"/>
              <a:t>する。 </a:t>
            </a:r>
          </a:p>
          <a:p>
            <a:pPr lvl="1">
              <a:lnSpc>
                <a:spcPct val="100000"/>
              </a:lnSpc>
            </a:pPr>
            <a:r>
              <a:rPr lang="zh-CN" altLang="en-US" sz="1600" b="1" dirty="0"/>
              <a:t>学習候補</a:t>
            </a:r>
            <a:r>
              <a:rPr lang="ja-JP" altLang="en-US" sz="1600" b="1"/>
              <a:t>データの</a:t>
            </a:r>
            <a:r>
              <a:rPr lang="zh-CN" altLang="en-US" sz="1600" b="1" dirty="0"/>
              <a:t>学習</a:t>
            </a:r>
            <a:r>
              <a:rPr lang="ja-JP" altLang="en-US" sz="1600" b="1"/>
              <a:t>データ</a:t>
            </a:r>
            <a:r>
              <a:rPr lang="zh-CN" altLang="en-US" sz="1600" b="1" dirty="0"/>
              <a:t>化（</a:t>
            </a:r>
            <a:r>
              <a:rPr lang="es-419" altLang="zh-CN" sz="1600" b="1" dirty="0"/>
              <a:t>md</a:t>
            </a:r>
            <a:r>
              <a:rPr lang="ja-JP" altLang="en-US" sz="1600" b="1"/>
              <a:t>テンプレート</a:t>
            </a:r>
            <a:r>
              <a:rPr lang="zh-CN" altLang="en-US" sz="1600" b="1" dirty="0"/>
              <a:t>化）</a:t>
            </a:r>
            <a:r>
              <a:rPr lang="zh-CN" altLang="en-US" sz="1600" dirty="0"/>
              <a:t> </a:t>
            </a:r>
          </a:p>
          <a:p>
            <a:pPr lvl="2">
              <a:lnSpc>
                <a:spcPct val="100000"/>
              </a:lnSpc>
            </a:pPr>
            <a:r>
              <a:rPr lang="zh-CN" altLang="en-US" sz="1400" dirty="0"/>
              <a:t>収集</a:t>
            </a:r>
            <a:r>
              <a:rPr lang="ja-JP" altLang="en-US" sz="1400"/>
              <a:t>したドキュメントを、</a:t>
            </a:r>
            <a:r>
              <a:rPr lang="es-419" altLang="zh-CN" sz="1400" dirty="0"/>
              <a:t>AI</a:t>
            </a:r>
            <a:r>
              <a:rPr lang="ja-JP" altLang="en-US" sz="1400"/>
              <a:t>が</a:t>
            </a:r>
            <a:r>
              <a:rPr lang="zh-CN" altLang="en-US" sz="1400" dirty="0"/>
              <a:t>学習</a:t>
            </a:r>
            <a:r>
              <a:rPr lang="ja-JP" altLang="en-US" sz="1400"/>
              <a:t>しやすい</a:t>
            </a:r>
            <a:r>
              <a:rPr lang="es-419" altLang="zh-CN" sz="1400" dirty="0"/>
              <a:t>Markdown</a:t>
            </a:r>
            <a:r>
              <a:rPr lang="zh-CN" altLang="en-US" sz="1400" dirty="0"/>
              <a:t>形式</a:t>
            </a:r>
            <a:r>
              <a:rPr lang="ja-JP" altLang="en-US" sz="1400"/>
              <a:t>のテンプレートに</a:t>
            </a:r>
            <a:r>
              <a:rPr lang="zh-CN" altLang="en-US" sz="1400" dirty="0"/>
              <a:t>変換</a:t>
            </a:r>
            <a:r>
              <a:rPr lang="ja-JP" altLang="en-US" sz="1400"/>
              <a:t>する。 </a:t>
            </a:r>
          </a:p>
          <a:p>
            <a:pPr lvl="1">
              <a:lnSpc>
                <a:spcPct val="100000"/>
              </a:lnSpc>
            </a:pPr>
            <a:r>
              <a:rPr lang="zh-CN" altLang="en-US" sz="1600" b="1" dirty="0"/>
              <a:t>簡易</a:t>
            </a:r>
            <a:r>
              <a:rPr lang="ja-JP" altLang="en-US" sz="1600" b="1"/>
              <a:t>ツールによる</a:t>
            </a:r>
            <a:r>
              <a:rPr lang="zh-CN" altLang="en-US" sz="1600" b="1" dirty="0"/>
              <a:t>生成実証（</a:t>
            </a:r>
            <a:r>
              <a:rPr lang="es-419" altLang="zh-CN" sz="1600" b="1" dirty="0"/>
              <a:t>PoC</a:t>
            </a:r>
            <a:r>
              <a:rPr lang="zh-CN" altLang="es-419" sz="1600" b="1" dirty="0"/>
              <a:t>）</a:t>
            </a:r>
            <a:r>
              <a:rPr lang="es-419" altLang="zh-CN" sz="1600" dirty="0"/>
              <a:t> </a:t>
            </a:r>
          </a:p>
          <a:p>
            <a:pPr lvl="2">
              <a:lnSpc>
                <a:spcPct val="100000"/>
              </a:lnSpc>
            </a:pPr>
            <a:r>
              <a:rPr lang="es-419" altLang="zh-CN" sz="1400" dirty="0"/>
              <a:t>NotebookLM</a:t>
            </a:r>
            <a:r>
              <a:rPr lang="zh-CN" altLang="en-US" sz="1400" dirty="0"/>
              <a:t>等</a:t>
            </a:r>
            <a:r>
              <a:rPr lang="ja-JP" altLang="en-US" sz="1400"/>
              <a:t>の</a:t>
            </a:r>
            <a:r>
              <a:rPr lang="zh-CN" altLang="en-US" sz="1400" dirty="0"/>
              <a:t>汎用的</a:t>
            </a:r>
            <a:r>
              <a:rPr lang="ja-JP" altLang="en-US" sz="1400"/>
              <a:t>なツールを</a:t>
            </a:r>
            <a:r>
              <a:rPr lang="zh-CN" altLang="en-US" sz="1400" dirty="0"/>
              <a:t>用</a:t>
            </a:r>
            <a:r>
              <a:rPr lang="ja-JP" altLang="en-US" sz="1400"/>
              <a:t>い、ドキュメント</a:t>
            </a:r>
            <a:r>
              <a:rPr lang="zh-CN" altLang="en-US" sz="1400" dirty="0"/>
              <a:t>生成</a:t>
            </a:r>
            <a:r>
              <a:rPr lang="ja-JP" altLang="en-US" sz="1400"/>
              <a:t>の</a:t>
            </a:r>
            <a:r>
              <a:rPr lang="zh-CN" altLang="en-US" sz="1400" dirty="0"/>
              <a:t>効果</a:t>
            </a:r>
            <a:r>
              <a:rPr lang="ja-JP" altLang="en-US" sz="1400"/>
              <a:t>を</a:t>
            </a:r>
            <a:r>
              <a:rPr lang="zh-CN" altLang="en-US" sz="1400" dirty="0"/>
              <a:t>検証</a:t>
            </a:r>
            <a:r>
              <a:rPr lang="ja-JP" altLang="en-US" sz="1400"/>
              <a:t>する。 </a:t>
            </a:r>
          </a:p>
          <a:p>
            <a:pPr lvl="1">
              <a:lnSpc>
                <a:spcPct val="100000"/>
              </a:lnSpc>
            </a:pPr>
            <a:r>
              <a:rPr lang="zh-CN" altLang="en-US" sz="1600" b="1" dirty="0"/>
              <a:t>生成</a:t>
            </a:r>
            <a:r>
              <a:rPr lang="ja-JP" altLang="en-US" sz="1600" b="1"/>
              <a:t>ドキュメントの</a:t>
            </a:r>
            <a:r>
              <a:rPr lang="zh-CN" altLang="en-US" sz="1600" b="1" dirty="0"/>
              <a:t>種別</a:t>
            </a:r>
            <a:endParaRPr lang="zh-CN" altLang="en-US" sz="1600" dirty="0"/>
          </a:p>
          <a:p>
            <a:pPr lvl="2">
              <a:lnSpc>
                <a:spcPct val="100000"/>
              </a:lnSpc>
            </a:pPr>
            <a:r>
              <a:rPr lang="zh-CN" altLang="en-US" sz="1400" dirty="0"/>
              <a:t>生成</a:t>
            </a:r>
            <a:r>
              <a:rPr lang="ja-JP" altLang="en-US" sz="1400"/>
              <a:t>するドキュメントは、「</a:t>
            </a:r>
            <a:r>
              <a:rPr lang="zh-CN" altLang="en-US" sz="1400" dirty="0"/>
              <a:t>一般用」</a:t>
            </a:r>
            <a:r>
              <a:rPr lang="ja-JP" altLang="en-US" sz="1400"/>
              <a:t>および「イオン</a:t>
            </a:r>
            <a:r>
              <a:rPr lang="zh-CN" altLang="en-US" sz="1400" dirty="0"/>
              <a:t>用」</a:t>
            </a:r>
            <a:r>
              <a:rPr lang="ja-JP" altLang="en-US" sz="1400"/>
              <a:t>を</a:t>
            </a:r>
            <a:r>
              <a:rPr lang="zh-CN" altLang="en-US" sz="1400" dirty="0"/>
              <a:t>対象</a:t>
            </a:r>
            <a:r>
              <a:rPr lang="ja-JP" altLang="en-US" sz="1400"/>
              <a:t>とし、それぞれ「</a:t>
            </a:r>
            <a:r>
              <a:rPr lang="zh-CN" altLang="en-US" sz="1400" dirty="0"/>
              <a:t>小規模」「中規模」「大規模」</a:t>
            </a:r>
            <a:r>
              <a:rPr lang="ja-JP" altLang="en-US" sz="1400"/>
              <a:t>のプロジェクト</a:t>
            </a:r>
            <a:r>
              <a:rPr lang="zh-CN" altLang="en-US" sz="1400" dirty="0"/>
              <a:t>規模</a:t>
            </a:r>
            <a:r>
              <a:rPr lang="ja-JP" altLang="en-US" sz="1400"/>
              <a:t>に</a:t>
            </a:r>
            <a:r>
              <a:rPr lang="zh-CN" altLang="en-US" sz="1400" dirty="0"/>
              <a:t>対応</a:t>
            </a:r>
            <a:r>
              <a:rPr lang="ja-JP" altLang="en-US" sz="1400"/>
              <a:t>させる。 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4366D61-5449-30D8-DAF3-BED63E40C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ETCO LLC.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1171B08-D8A7-EBD2-1532-FBBA22DCA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18737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51ED8-4368-0653-2281-400876ECF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53CC8B-79CA-4377-D5CB-0BBA9414C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成果物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368A93-484A-46C2-16B0-EBE18BC53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本</a:t>
            </a:r>
            <a:r>
              <a:rPr lang="ja-JP" altLang="en-US" sz="2000"/>
              <a:t>プロジェクトでは、</a:t>
            </a:r>
            <a:r>
              <a:rPr lang="zh-CN" altLang="en-US" sz="2000" dirty="0"/>
              <a:t>以下</a:t>
            </a:r>
            <a:r>
              <a:rPr lang="ja-JP" altLang="en-US" sz="2000"/>
              <a:t>のドキュメントおよびデータ を</a:t>
            </a:r>
            <a:r>
              <a:rPr lang="zh-CN" altLang="en-US" sz="2000" dirty="0"/>
              <a:t>主要</a:t>
            </a:r>
            <a:r>
              <a:rPr lang="ja-JP" altLang="en-US" sz="2000"/>
              <a:t>な</a:t>
            </a:r>
            <a:r>
              <a:rPr lang="zh-CN" altLang="en-US" sz="2000" dirty="0"/>
              <a:t>成果物</a:t>
            </a:r>
            <a:r>
              <a:rPr lang="ja-JP" altLang="en-US" sz="2000"/>
              <a:t>とする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>
              <a:lnSpc>
                <a:spcPct val="100000"/>
              </a:lnSpc>
            </a:pPr>
            <a:endParaRPr lang="ja-JP" altLang="en-US" sz="1400"/>
          </a:p>
          <a:p>
            <a:pPr marL="457200" lvl="1" indent="0">
              <a:buNone/>
            </a:pPr>
            <a:endParaRPr lang="ja-JP" altLang="en-US" sz="140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0ABAF9F-ED2A-B2B8-08FD-7B54DDEA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ETCO LLC.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F3C0681-EC61-E2DB-F4A3-5B7C688FD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052E6-07CA-9B46-B866-FDE18BF74505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11" name="正方形/長方形 23">
            <a:extLst>
              <a:ext uri="{FF2B5EF4-FFF2-40B4-BE49-F238E27FC236}">
                <a16:creationId xmlns:a16="http://schemas.microsoft.com/office/drawing/2014/main" id="{1FDFD32B-3F73-D0E9-016C-B4FD571EC5CA}"/>
              </a:ext>
            </a:extLst>
          </p:cNvPr>
          <p:cNvSpPr/>
          <p:nvPr/>
        </p:nvSpPr>
        <p:spPr>
          <a:xfrm>
            <a:off x="4861912" y="1657461"/>
            <a:ext cx="6346115" cy="499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概要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2" name="正方形/長方形 66">
            <a:extLst>
              <a:ext uri="{FF2B5EF4-FFF2-40B4-BE49-F238E27FC236}">
                <a16:creationId xmlns:a16="http://schemas.microsoft.com/office/drawing/2014/main" id="{E8F91432-2525-9556-FB20-D7E301F15667}"/>
              </a:ext>
            </a:extLst>
          </p:cNvPr>
          <p:cNvSpPr/>
          <p:nvPr/>
        </p:nvSpPr>
        <p:spPr>
          <a:xfrm>
            <a:off x="1538868" y="2156791"/>
            <a:ext cx="3323063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プロジェクト計画書（本書）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5" name="正方形/長方形 74">
            <a:extLst>
              <a:ext uri="{FF2B5EF4-FFF2-40B4-BE49-F238E27FC236}">
                <a16:creationId xmlns:a16="http://schemas.microsoft.com/office/drawing/2014/main" id="{AE143636-A88D-09D8-FDCE-2CE984AC8FBE}"/>
              </a:ext>
            </a:extLst>
          </p:cNvPr>
          <p:cNvSpPr/>
          <p:nvPr/>
        </p:nvSpPr>
        <p:spPr>
          <a:xfrm>
            <a:off x="1538866" y="1657461"/>
            <a:ext cx="3323066" cy="499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成果物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6" name="正方形/長方形 66">
            <a:extLst>
              <a:ext uri="{FF2B5EF4-FFF2-40B4-BE49-F238E27FC236}">
                <a16:creationId xmlns:a16="http://schemas.microsoft.com/office/drawing/2014/main" id="{12C265C8-C3B1-54AB-2B3B-F9D575972C66}"/>
              </a:ext>
            </a:extLst>
          </p:cNvPr>
          <p:cNvSpPr/>
          <p:nvPr/>
        </p:nvSpPr>
        <p:spPr>
          <a:xfrm>
            <a:off x="4861915" y="2156791"/>
            <a:ext cx="6346109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本プロジェクトの目的・スコープ・スケジュールを定義した文書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9" name="正方形/長方形 66">
            <a:extLst>
              <a:ext uri="{FF2B5EF4-FFF2-40B4-BE49-F238E27FC236}">
                <a16:creationId xmlns:a16="http://schemas.microsoft.com/office/drawing/2014/main" id="{E4FE4512-E3B7-CBE2-8E25-6C2E459E839D}"/>
              </a:ext>
            </a:extLst>
          </p:cNvPr>
          <p:cNvSpPr/>
          <p:nvPr/>
        </p:nvSpPr>
        <p:spPr>
          <a:xfrm>
            <a:off x="1538865" y="2580537"/>
            <a:ext cx="3323063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419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WBS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表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0" name="正方形/長方形 66">
            <a:extLst>
              <a:ext uri="{FF2B5EF4-FFF2-40B4-BE49-F238E27FC236}">
                <a16:creationId xmlns:a16="http://schemas.microsoft.com/office/drawing/2014/main" id="{1528D502-8FFB-C6B7-D010-8D9B4E3BEA6F}"/>
              </a:ext>
            </a:extLst>
          </p:cNvPr>
          <p:cNvSpPr/>
          <p:nvPr/>
        </p:nvSpPr>
        <p:spPr>
          <a:xfrm>
            <a:off x="4861912" y="2580537"/>
            <a:ext cx="6346109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タスクの全体像を整理し、進捗管理を行うために使用</a:t>
            </a:r>
          </a:p>
        </p:txBody>
      </p:sp>
      <p:sp>
        <p:nvSpPr>
          <p:cNvPr id="21" name="正方形/長方形 66">
            <a:extLst>
              <a:ext uri="{FF2B5EF4-FFF2-40B4-BE49-F238E27FC236}">
                <a16:creationId xmlns:a16="http://schemas.microsoft.com/office/drawing/2014/main" id="{49917895-F966-AFF3-0240-ED0466DC88B2}"/>
              </a:ext>
            </a:extLst>
          </p:cNvPr>
          <p:cNvSpPr/>
          <p:nvPr/>
        </p:nvSpPr>
        <p:spPr>
          <a:xfrm>
            <a:off x="1538865" y="3006609"/>
            <a:ext cx="3323063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生成対象ドキュメントリスト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2" name="正方形/長方形 66">
            <a:extLst>
              <a:ext uri="{FF2B5EF4-FFF2-40B4-BE49-F238E27FC236}">
                <a16:creationId xmlns:a16="http://schemas.microsoft.com/office/drawing/2014/main" id="{19C46A13-458F-55CF-AE45-1942F17BF390}"/>
              </a:ext>
            </a:extLst>
          </p:cNvPr>
          <p:cNvSpPr/>
          <p:nvPr/>
        </p:nvSpPr>
        <p:spPr>
          <a:xfrm>
            <a:off x="4861912" y="3006609"/>
            <a:ext cx="6346109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自動生成対象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の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種類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と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範囲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を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明確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にするための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整理表</a:t>
            </a:r>
          </a:p>
        </p:txBody>
      </p:sp>
      <p:sp>
        <p:nvSpPr>
          <p:cNvPr id="25" name="正方形/長方形 66">
            <a:extLst>
              <a:ext uri="{FF2B5EF4-FFF2-40B4-BE49-F238E27FC236}">
                <a16:creationId xmlns:a16="http://schemas.microsoft.com/office/drawing/2014/main" id="{4F52EAC9-D11B-0B41-E5D1-598891595752}"/>
              </a:ext>
            </a:extLst>
          </p:cNvPr>
          <p:cNvSpPr/>
          <p:nvPr/>
        </p:nvSpPr>
        <p:spPr>
          <a:xfrm>
            <a:off x="1538865" y="3429972"/>
            <a:ext cx="3323063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学習候補ドキュメントリスト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6" name="正方形/長方形 66">
            <a:extLst>
              <a:ext uri="{FF2B5EF4-FFF2-40B4-BE49-F238E27FC236}">
                <a16:creationId xmlns:a16="http://schemas.microsoft.com/office/drawing/2014/main" id="{AC47ED9E-18EA-2611-72B5-9C3D3766EC93}"/>
              </a:ext>
            </a:extLst>
          </p:cNvPr>
          <p:cNvSpPr/>
          <p:nvPr/>
        </p:nvSpPr>
        <p:spPr>
          <a:xfrm>
            <a:off x="4861912" y="3429972"/>
            <a:ext cx="6346109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学習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に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使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う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資料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を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選定・管理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するためのリスト</a:t>
            </a:r>
          </a:p>
        </p:txBody>
      </p:sp>
      <p:sp>
        <p:nvSpPr>
          <p:cNvPr id="27" name="正方形/長方形 66">
            <a:extLst>
              <a:ext uri="{FF2B5EF4-FFF2-40B4-BE49-F238E27FC236}">
                <a16:creationId xmlns:a16="http://schemas.microsoft.com/office/drawing/2014/main" id="{BA00B651-3A18-3401-230B-AD547ADFC79A}"/>
              </a:ext>
            </a:extLst>
          </p:cNvPr>
          <p:cNvSpPr/>
          <p:nvPr/>
        </p:nvSpPr>
        <p:spPr>
          <a:xfrm>
            <a:off x="1538861" y="3846105"/>
            <a:ext cx="3323063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収集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した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データファイル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8" name="正方形/長方形 66">
            <a:extLst>
              <a:ext uri="{FF2B5EF4-FFF2-40B4-BE49-F238E27FC236}">
                <a16:creationId xmlns:a16="http://schemas.microsoft.com/office/drawing/2014/main" id="{6090DBAE-1EDE-23C4-D97D-8600CCDE1C1E}"/>
              </a:ext>
            </a:extLst>
          </p:cNvPr>
          <p:cNvSpPr/>
          <p:nvPr/>
        </p:nvSpPr>
        <p:spPr>
          <a:xfrm>
            <a:off x="4861908" y="3846105"/>
            <a:ext cx="6346109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学習用資料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をテキスト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化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し、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変換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の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前処理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に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使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う</a:t>
            </a:r>
          </a:p>
        </p:txBody>
      </p:sp>
      <p:sp>
        <p:nvSpPr>
          <p:cNvPr id="31" name="正方形/長方形 66">
            <a:extLst>
              <a:ext uri="{FF2B5EF4-FFF2-40B4-BE49-F238E27FC236}">
                <a16:creationId xmlns:a16="http://schemas.microsoft.com/office/drawing/2014/main" id="{7105F5F6-F379-D3F3-B1D8-697EE3758FFF}"/>
              </a:ext>
            </a:extLst>
          </p:cNvPr>
          <p:cNvSpPr/>
          <p:nvPr/>
        </p:nvSpPr>
        <p:spPr>
          <a:xfrm>
            <a:off x="1538857" y="4267525"/>
            <a:ext cx="3323063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419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Markdown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形式の学習データ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2" name="正方形/長方形 66">
            <a:extLst>
              <a:ext uri="{FF2B5EF4-FFF2-40B4-BE49-F238E27FC236}">
                <a16:creationId xmlns:a16="http://schemas.microsoft.com/office/drawing/2014/main" id="{B1B42C81-6C44-D7F7-F7D5-960CFC0476D9}"/>
              </a:ext>
            </a:extLst>
          </p:cNvPr>
          <p:cNvSpPr/>
          <p:nvPr/>
        </p:nvSpPr>
        <p:spPr>
          <a:xfrm>
            <a:off x="4861904" y="4267525"/>
            <a:ext cx="6346109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生成検証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に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使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う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実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データセット</a:t>
            </a:r>
          </a:p>
        </p:txBody>
      </p:sp>
      <p:sp>
        <p:nvSpPr>
          <p:cNvPr id="33" name="正方形/長方形 66">
            <a:extLst>
              <a:ext uri="{FF2B5EF4-FFF2-40B4-BE49-F238E27FC236}">
                <a16:creationId xmlns:a16="http://schemas.microsoft.com/office/drawing/2014/main" id="{F963A884-54A9-9B5C-50E7-4952E780CF39}"/>
              </a:ext>
            </a:extLst>
          </p:cNvPr>
          <p:cNvSpPr/>
          <p:nvPr/>
        </p:nvSpPr>
        <p:spPr>
          <a:xfrm>
            <a:off x="1538853" y="4675662"/>
            <a:ext cx="3323063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プロンプト集（</a:t>
            </a:r>
            <a:r>
              <a:rPr lang="es-419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v1.0</a:t>
            </a:r>
            <a:r>
              <a:rPr lang="ja-JP" altLang="es-419" sz="1400">
                <a:latin typeface="Meiryo UI" panose="020B0604030504040204" pitchFamily="34" charset="-128"/>
                <a:ea typeface="Meiryo UI" panose="020B0604030504040204" pitchFamily="34" charset="-128"/>
              </a:rPr>
              <a:t>）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およびテスト出力事例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4" name="正方形/長方形 66">
            <a:extLst>
              <a:ext uri="{FF2B5EF4-FFF2-40B4-BE49-F238E27FC236}">
                <a16:creationId xmlns:a16="http://schemas.microsoft.com/office/drawing/2014/main" id="{ACA5C5AD-CFF3-CFE8-C4DA-D6F940FC4544}"/>
              </a:ext>
            </a:extLst>
          </p:cNvPr>
          <p:cNvSpPr/>
          <p:nvPr/>
        </p:nvSpPr>
        <p:spPr>
          <a:xfrm>
            <a:off x="4861900" y="4675662"/>
            <a:ext cx="6346109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検証対象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の</a:t>
            </a:r>
            <a:r>
              <a:rPr lang="es-419" altLang="zh-CN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AI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ツールの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違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いを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把握・選定判断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に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使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う</a:t>
            </a:r>
          </a:p>
        </p:txBody>
      </p:sp>
      <p:sp>
        <p:nvSpPr>
          <p:cNvPr id="37" name="正方形/長方形 66">
            <a:extLst>
              <a:ext uri="{FF2B5EF4-FFF2-40B4-BE49-F238E27FC236}">
                <a16:creationId xmlns:a16="http://schemas.microsoft.com/office/drawing/2014/main" id="{DADEBD79-48B8-EBAF-932C-04E5D9761678}"/>
              </a:ext>
            </a:extLst>
          </p:cNvPr>
          <p:cNvSpPr/>
          <p:nvPr/>
        </p:nvSpPr>
        <p:spPr>
          <a:xfrm>
            <a:off x="1538849" y="5097082"/>
            <a:ext cx="3323063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共有用ノウハウ資料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8" name="正方形/長方形 66">
            <a:extLst>
              <a:ext uri="{FF2B5EF4-FFF2-40B4-BE49-F238E27FC236}">
                <a16:creationId xmlns:a16="http://schemas.microsoft.com/office/drawing/2014/main" id="{19A80B04-13F8-A6A6-1C7F-CF0BD6EA72A4}"/>
              </a:ext>
            </a:extLst>
          </p:cNvPr>
          <p:cNvSpPr/>
          <p:nvPr/>
        </p:nvSpPr>
        <p:spPr>
          <a:xfrm>
            <a:off x="4861896" y="5097082"/>
            <a:ext cx="6346109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データ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整備・検証手順・改善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ポイントなどをチーム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内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で</a:t>
            </a:r>
            <a:r>
              <a:rPr lang="zh-CN" altLang="en-US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共有</a:t>
            </a:r>
            <a:r>
              <a:rPr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するためのまとめ</a:t>
            </a:r>
          </a:p>
        </p:txBody>
      </p:sp>
      <p:sp>
        <p:nvSpPr>
          <p:cNvPr id="6" name="正方形/長方形 66">
            <a:extLst>
              <a:ext uri="{FF2B5EF4-FFF2-40B4-BE49-F238E27FC236}">
                <a16:creationId xmlns:a16="http://schemas.microsoft.com/office/drawing/2014/main" id="{9AEF4A5E-2BFB-B5EA-0C53-676F5DC8828B}"/>
              </a:ext>
            </a:extLst>
          </p:cNvPr>
          <p:cNvSpPr/>
          <p:nvPr/>
        </p:nvSpPr>
        <p:spPr>
          <a:xfrm>
            <a:off x="810322" y="2156791"/>
            <a:ext cx="728527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1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正方形/長方形 74">
            <a:extLst>
              <a:ext uri="{FF2B5EF4-FFF2-40B4-BE49-F238E27FC236}">
                <a16:creationId xmlns:a16="http://schemas.microsoft.com/office/drawing/2014/main" id="{1F6D2A75-F17B-D3A3-F615-9F30AC4F5AC2}"/>
              </a:ext>
            </a:extLst>
          </p:cNvPr>
          <p:cNvSpPr/>
          <p:nvPr/>
        </p:nvSpPr>
        <p:spPr>
          <a:xfrm>
            <a:off x="810320" y="1657461"/>
            <a:ext cx="728528" cy="499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No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正方形/長方形 66">
            <a:extLst>
              <a:ext uri="{FF2B5EF4-FFF2-40B4-BE49-F238E27FC236}">
                <a16:creationId xmlns:a16="http://schemas.microsoft.com/office/drawing/2014/main" id="{3A437F0F-A33E-9984-E601-885348120B95}"/>
              </a:ext>
            </a:extLst>
          </p:cNvPr>
          <p:cNvSpPr/>
          <p:nvPr/>
        </p:nvSpPr>
        <p:spPr>
          <a:xfrm>
            <a:off x="810319" y="2580537"/>
            <a:ext cx="728527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" name="正方形/長方形 66">
            <a:extLst>
              <a:ext uri="{FF2B5EF4-FFF2-40B4-BE49-F238E27FC236}">
                <a16:creationId xmlns:a16="http://schemas.microsoft.com/office/drawing/2014/main" id="{A8CE4E7E-376F-A3CD-46D6-90CC335A233F}"/>
              </a:ext>
            </a:extLst>
          </p:cNvPr>
          <p:cNvSpPr/>
          <p:nvPr/>
        </p:nvSpPr>
        <p:spPr>
          <a:xfrm>
            <a:off x="810319" y="3006609"/>
            <a:ext cx="728527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3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0" name="正方形/長方形 66">
            <a:extLst>
              <a:ext uri="{FF2B5EF4-FFF2-40B4-BE49-F238E27FC236}">
                <a16:creationId xmlns:a16="http://schemas.microsoft.com/office/drawing/2014/main" id="{F476D41C-30FB-B705-3626-5CBB93680E25}"/>
              </a:ext>
            </a:extLst>
          </p:cNvPr>
          <p:cNvSpPr/>
          <p:nvPr/>
        </p:nvSpPr>
        <p:spPr>
          <a:xfrm>
            <a:off x="810319" y="3429972"/>
            <a:ext cx="728527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4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3" name="正方形/長方形 66">
            <a:extLst>
              <a:ext uri="{FF2B5EF4-FFF2-40B4-BE49-F238E27FC236}">
                <a16:creationId xmlns:a16="http://schemas.microsoft.com/office/drawing/2014/main" id="{578CA753-E2A0-913D-C7DF-4683F8A4A8BB}"/>
              </a:ext>
            </a:extLst>
          </p:cNvPr>
          <p:cNvSpPr/>
          <p:nvPr/>
        </p:nvSpPr>
        <p:spPr>
          <a:xfrm>
            <a:off x="810315" y="3846105"/>
            <a:ext cx="728527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5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4" name="正方形/長方形 66">
            <a:extLst>
              <a:ext uri="{FF2B5EF4-FFF2-40B4-BE49-F238E27FC236}">
                <a16:creationId xmlns:a16="http://schemas.microsoft.com/office/drawing/2014/main" id="{9DC4675A-671A-D8A5-2666-C6B63DED55A4}"/>
              </a:ext>
            </a:extLst>
          </p:cNvPr>
          <p:cNvSpPr/>
          <p:nvPr/>
        </p:nvSpPr>
        <p:spPr>
          <a:xfrm>
            <a:off x="810311" y="4267525"/>
            <a:ext cx="728527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6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7" name="正方形/長方形 66">
            <a:extLst>
              <a:ext uri="{FF2B5EF4-FFF2-40B4-BE49-F238E27FC236}">
                <a16:creationId xmlns:a16="http://schemas.microsoft.com/office/drawing/2014/main" id="{8C66BCA5-CFE2-FA18-F7E0-ACA7A05B55B0}"/>
              </a:ext>
            </a:extLst>
          </p:cNvPr>
          <p:cNvSpPr/>
          <p:nvPr/>
        </p:nvSpPr>
        <p:spPr>
          <a:xfrm>
            <a:off x="810307" y="4675662"/>
            <a:ext cx="728527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7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8" name="正方形/長方形 66">
            <a:extLst>
              <a:ext uri="{FF2B5EF4-FFF2-40B4-BE49-F238E27FC236}">
                <a16:creationId xmlns:a16="http://schemas.microsoft.com/office/drawing/2014/main" id="{7013F8D0-29E1-4944-FC42-AEDFA594AF56}"/>
              </a:ext>
            </a:extLst>
          </p:cNvPr>
          <p:cNvSpPr/>
          <p:nvPr/>
        </p:nvSpPr>
        <p:spPr>
          <a:xfrm>
            <a:off x="810303" y="5097082"/>
            <a:ext cx="728527" cy="4237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8</a:t>
            </a:r>
            <a:endParaRPr kumimoji="1" lang="ja-JP" altLang="en-US" sz="14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976665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网状">
  <a:themeElements>
    <a:clrScheme name="网状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网状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5091</TotalTime>
  <Words>751</Words>
  <Application>Microsoft Macintosh PowerPoint</Application>
  <PresentationFormat>宽屏</PresentationFormat>
  <Paragraphs>70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Meiryo UI</vt:lpstr>
      <vt:lpstr>游ゴシック</vt:lpstr>
      <vt:lpstr>Arial</vt:lpstr>
      <vt:lpstr>Arial Black</vt:lpstr>
      <vt:lpstr>网状</vt:lpstr>
      <vt:lpstr>AIによるPM・開発業務支援PoC実施 （1次ゴール）</vt:lpstr>
      <vt:lpstr>プロジェクト概要</vt:lpstr>
      <vt:lpstr>プロジェクトのスコープ</vt:lpstr>
      <vt:lpstr>成果物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玉木栄三郎</dc:creator>
  <cp:lastModifiedBy>芸翼雄 王</cp:lastModifiedBy>
  <cp:revision>2296</cp:revision>
  <dcterms:created xsi:type="dcterms:W3CDTF">2019-04-02T02:14:09Z</dcterms:created>
  <dcterms:modified xsi:type="dcterms:W3CDTF">2025-11-12T07:23:56Z</dcterms:modified>
</cp:coreProperties>
</file>